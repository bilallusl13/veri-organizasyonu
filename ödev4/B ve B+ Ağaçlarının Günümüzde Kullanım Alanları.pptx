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6256000" cy="9144000"/>
  <p:notesSz cx="9144000" cy="16256000"/>
  <p:embeddedFontLst>
    <p:embeddedFont>
      <p:font typeface="Quattrocento Sans" charset="-122" pitchFamily="34"/>
      <p:regular r:id="rId30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Relationship Id="rId30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hyperlink" Target="https://15445.courses.cs.cmu.edu/fall2021/notes/07-trees.pdf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hyperlink" Target="https://medium.com/@akashsdas_dev/b-trees-and-b-trees-682d363df1f7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hyperlink" Target="https://planetscale.com/blog/btrees-and-database-indexes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hyperlink" Target="https://medium.com/@akashsdas_dev/b-trees-and-b-trees-682d363df1f7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hyperlink" Target="https://notes.suhaib.in/docs/tech/dsa/b-trees-and-how-your-file-system-actually-stores-stuff/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hyperlink" Target="https://planetscale.com/blog/btrees-and-database-indexes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5ahipnw5rghok/mnt/agents/output/btree-usage/images/7_29_900_Database_Abstract_Stock_Photos.png">    </p:cNvPr>
          <p:cNvPicPr>
            <a:picLocks noChangeAspect="1"/>
          </p:cNvPicPr>
          <p:nvPr/>
        </p:nvPicPr>
        <p:blipFill>
          <a:blip r:embed="rId1"/>
          <a:srcRect l="36" r="36" t="0" b="0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0F1F2E">
                  <a:alpha val="90000"/>
                </a:srgbClr>
              </a:gs>
              <a:gs pos="50000">
                <a:srgbClr val="0F1F2E">
                  <a:alpha val="80000"/>
                </a:srgbClr>
              </a:gs>
              <a:gs pos="100000">
                <a:srgbClr val="0F1F2E">
                  <a:alpha val="90000"/>
                </a:srgbClr>
              </a:gs>
            </a:gsLst>
            <a:lin ang="540000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6858000" y="2921000"/>
            <a:ext cx="2540000" cy="38100"/>
          </a:xfrm>
          <a:prstGeom prst="rect">
            <a:avLst/>
          </a:prstGeom>
          <a:solidFill>
            <a:srgbClr val="C17F24"/>
          </a:solidFill>
          <a:ln/>
        </p:spPr>
      </p:sp>
      <p:sp>
        <p:nvSpPr>
          <p:cNvPr id="5" name="Text 2"/>
          <p:cNvSpPr/>
          <p:nvPr/>
        </p:nvSpPr>
        <p:spPr>
          <a:xfrm>
            <a:off x="1270000" y="3175000"/>
            <a:ext cx="13716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4400" b="1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B ve B+ Ağaçlarının</a:t>
            </a:r>
            <a:endParaRPr lang="en-US" sz="4200" dirty="0"/>
          </a:p>
          <a:p>
            <a:pPr algn="ctr">
              <a:lnSpc>
                <a:spcPct val="120000"/>
              </a:lnSpc>
            </a:pPr>
            <a:r>
              <a:rPr lang="en-US" sz="4400" b="1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Günümüzde Kullanım Alanları</a:t>
            </a:r>
            <a:endParaRPr lang="en-US" sz="4200" dirty="0"/>
          </a:p>
        </p:txBody>
      </p:sp>
      <p:sp>
        <p:nvSpPr>
          <p:cNvPr id="6" name="Shape 3"/>
          <p:cNvSpPr/>
          <p:nvPr/>
        </p:nvSpPr>
        <p:spPr>
          <a:xfrm>
            <a:off x="6858000" y="4953000"/>
            <a:ext cx="2540000" cy="38100"/>
          </a:xfrm>
          <a:prstGeom prst="rect">
            <a:avLst/>
          </a:prstGeom>
          <a:solidFill>
            <a:srgbClr val="C17F24"/>
          </a:solidFill>
          <a:ln/>
        </p:spPr>
      </p:sp>
      <p:sp>
        <p:nvSpPr>
          <p:cNvPr id="7" name="Text 4"/>
          <p:cNvSpPr/>
          <p:nvPr/>
        </p:nvSpPr>
        <p:spPr>
          <a:xfrm>
            <a:off x="2540000" y="5207000"/>
            <a:ext cx="1117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20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Modern Veri Sistemlerinde Denge Ağaçlarının Rolü ve Önemi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3810000" y="7112000"/>
            <a:ext cx="8636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60000"/>
              </a:lnSpc>
            </a:pPr>
            <a:r>
              <a:rPr lang="en-US" sz="14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Veri Yapıları ve Algoritmalar | 2025-2026 Bahar Dönemi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7620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spc="400" kern="0" dirty="0">
                <a:solidFill>
                  <a:srgbClr val="C17F2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İÇİNDEKİLER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62000" y="1206500"/>
            <a:ext cx="635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Presentation Overview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62000" y="1968500"/>
            <a:ext cx="1016000" cy="38100"/>
          </a:xfrm>
          <a:prstGeom prst="rect">
            <a:avLst/>
          </a:prstGeom>
          <a:solidFill>
            <a:srgbClr val="C17F24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2413000"/>
            <a:ext cx="4572000" cy="1460500"/>
          </a:xfrm>
          <a:prstGeom prst="roundRect">
            <a:avLst>
              <a:gd name="adj" fmla="val 5000"/>
            </a:avLst>
          </a:prstGeom>
          <a:solidFill>
            <a:srgbClr val="1B3A4B">
              <a:alpha val="50196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1016000" y="2540000"/>
            <a:ext cx="6985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C17F2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778000" y="2578100"/>
            <a:ext cx="330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Temel Kavramlar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778000" y="3048000"/>
            <a:ext cx="3302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B-Tree ve B+ Tree tanımı ve çalışma prensibi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842000" y="2413000"/>
            <a:ext cx="4572000" cy="1460500"/>
          </a:xfrm>
          <a:prstGeom prst="roundRect">
            <a:avLst>
              <a:gd name="adj" fmla="val 5000"/>
            </a:avLst>
          </a:prstGeom>
          <a:solidFill>
            <a:srgbClr val="1B3A4B">
              <a:alpha val="50196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6096000" y="2540000"/>
            <a:ext cx="6985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C17F2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858000" y="2578100"/>
            <a:ext cx="330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Veri Tabanlarında Kullanımı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858000" y="3048000"/>
            <a:ext cx="3302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MySQL, PostgreSQL ve MongoDB indeksleme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0922000" y="2413000"/>
            <a:ext cx="4572000" cy="1460500"/>
          </a:xfrm>
          <a:prstGeom prst="roundRect">
            <a:avLst>
              <a:gd name="adj" fmla="val 5000"/>
            </a:avLst>
          </a:prstGeom>
          <a:solidFill>
            <a:srgbClr val="1B3A4B">
              <a:alpha val="50196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11176000" y="2540000"/>
            <a:ext cx="6985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C17F2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938000" y="2578100"/>
            <a:ext cx="330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Dosya Sistemlerinde Kullanımı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1938000" y="3048000"/>
            <a:ext cx="3302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NTFS, HFS+, XFS ve Btrfs yapıları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62000" y="4191000"/>
            <a:ext cx="4572000" cy="1460500"/>
          </a:xfrm>
          <a:prstGeom prst="roundRect">
            <a:avLst>
              <a:gd name="adj" fmla="val 5000"/>
            </a:avLst>
          </a:prstGeom>
          <a:solidFill>
            <a:srgbClr val="1B3A4B">
              <a:alpha val="50196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1016000" y="4318000"/>
            <a:ext cx="6985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C17F2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778000" y="4356100"/>
            <a:ext cx="330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Arama Motorları ve Büyük Veri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778000" y="4826000"/>
            <a:ext cx="3302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B-Tree yapılarının ölçeklenebilir sistemlerdeki rolü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842000" y="4191000"/>
            <a:ext cx="4572000" cy="1460500"/>
          </a:xfrm>
          <a:prstGeom prst="roundRect">
            <a:avLst>
              <a:gd name="adj" fmla="val 5000"/>
            </a:avLst>
          </a:prstGeom>
          <a:solidFill>
            <a:srgbClr val="1B3A4B">
              <a:alpha val="50196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6096000" y="4318000"/>
            <a:ext cx="6985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C17F2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05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858000" y="4356100"/>
            <a:ext cx="330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Neden Tercih Edilir?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858000" y="4826000"/>
            <a:ext cx="3302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B+ Tree'nin teknik üstünlükleri ve pratik avantajları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10922000" y="4191000"/>
            <a:ext cx="4572000" cy="1460500"/>
          </a:xfrm>
          <a:prstGeom prst="roundRect">
            <a:avLst>
              <a:gd name="adj" fmla="val 5000"/>
            </a:avLst>
          </a:prstGeom>
          <a:solidFill>
            <a:srgbClr val="1B3A4B">
              <a:alpha val="50196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11176000" y="4318000"/>
            <a:ext cx="6985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C17F2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06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1938000" y="4356100"/>
            <a:ext cx="330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Günlük Hayattan Benzetmeler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1938000" y="4826000"/>
            <a:ext cx="3302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Kütüphane, telefon rehberi, dosya dolabı örnekleri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762000" y="5969000"/>
            <a:ext cx="4572000" cy="1460500"/>
          </a:xfrm>
          <a:prstGeom prst="roundRect">
            <a:avLst>
              <a:gd name="adj" fmla="val 5000"/>
            </a:avLst>
          </a:prstGeom>
          <a:solidFill>
            <a:srgbClr val="1B3A4B">
              <a:alpha val="50196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1016000" y="6096000"/>
            <a:ext cx="6985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C17F2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07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778000" y="6134100"/>
            <a:ext cx="330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Gelecek ve Değerlendirme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778000" y="6604000"/>
            <a:ext cx="3302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Önemi, büyük veri çağındaki rolü ve gelecekteki yeri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5ahipnw5rghok/mnt/agents/output/btree-usage/images/8_A_futuristic_motion_graphic_showing.png">    </p:cNvPr>
          <p:cNvPicPr>
            <a:picLocks noChangeAspect="1"/>
          </p:cNvPicPr>
          <p:nvPr/>
        </p:nvPicPr>
        <p:blipFill>
          <a:blip r:embed="rId1"/>
          <a:srcRect l="78" r="78" t="0" b="0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0F1F2E">
                  <a:alpha val="95000"/>
                </a:srgbClr>
              </a:gs>
              <a:gs pos="60000">
                <a:srgbClr val="0F1F2E">
                  <a:alpha val="88000"/>
                </a:srgbClr>
              </a:gs>
              <a:gs pos="100000">
                <a:srgbClr val="0F1F2E">
                  <a:alpha val="60000"/>
                </a:srgbClr>
              </a:gs>
            </a:gsLst>
            <a:lin ang="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762000" y="1524000"/>
            <a:ext cx="5080000" cy="254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0" b="1" dirty="0">
                <a:solidFill>
                  <a:srgbClr val="FFFFFF">
                    <a:alpha val="6275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762000" y="3302000"/>
            <a:ext cx="18415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spc="300" kern="0" dirty="0">
                <a:solidFill>
                  <a:srgbClr val="C17F2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BÖLÜM 01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762000" y="3937000"/>
            <a:ext cx="1016000" cy="38100"/>
          </a:xfrm>
          <a:prstGeom prst="rect">
            <a:avLst/>
          </a:prstGeom>
          <a:solidFill>
            <a:srgbClr val="C17F24"/>
          </a:solidFill>
          <a:ln/>
        </p:spPr>
      </p:sp>
      <p:sp>
        <p:nvSpPr>
          <p:cNvPr id="7" name="Text 4"/>
          <p:cNvSpPr/>
          <p:nvPr/>
        </p:nvSpPr>
        <p:spPr>
          <a:xfrm>
            <a:off x="762000" y="4191000"/>
            <a:ext cx="889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Temel Kavramlar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62000" y="5080000"/>
            <a:ext cx="889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B-Tree ve B+ Tree Veri Yapılarının Tanımı ve Çalışma Prensibi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762000" y="304800"/>
            <a:ext cx="1397000" cy="330200"/>
          </a:xfrm>
          <a:prstGeom prst="roundRect">
            <a:avLst>
              <a:gd name="adj" fmla="val 8000"/>
            </a:avLst>
          </a:prstGeom>
          <a:solidFill>
            <a:srgbClr val="1B3A4B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304800"/>
            <a:ext cx="1397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BÖLÜM 01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62000" y="787400"/>
            <a:ext cx="889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000" b="1" dirty="0">
                <a:solidFill>
                  <a:srgbClr val="1B3A4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B-Tree (B Ağacı) Nedir?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762000" y="1397000"/>
            <a:ext cx="762000" cy="38100"/>
          </a:xfrm>
          <a:prstGeom prst="rect">
            <a:avLst/>
          </a:prstGeom>
          <a:solidFill>
            <a:srgbClr val="C17F24"/>
          </a:solidFill>
          <a:ln/>
        </p:spPr>
      </p:sp>
      <p:sp>
        <p:nvSpPr>
          <p:cNvPr id="7" name="Text 5"/>
          <p:cNvSpPr/>
          <p:nvPr/>
        </p:nvSpPr>
        <p:spPr>
          <a:xfrm>
            <a:off x="762000" y="1651000"/>
            <a:ext cx="7112000" cy="431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5000"/>
              </a:lnSpc>
            </a:pPr>
            <a:r>
              <a:rPr lang="en-US" sz="1700" b="1" dirty="0">
                <a:solidFill>
                  <a:srgbClr val="C17F2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Tanım:</a:t>
            </a:r>
            <a:pPr>
              <a:lnSpc>
                <a:spcPct val="155000"/>
              </a:lnSpc>
            </a:pPr>
            <a:r>
              <a:rPr lang="en-US" sz="1700" dirty="0">
                <a:solidFill>
                  <a:srgbClr val="2C3E5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1972'de Rudolf Bayer ve Edward McCreight tarafından icat edilen, kendi kendini dengeleyen çok yollu arama ağacıdır.</a:t>
            </a:r>
            <a:endParaRPr lang="en-US" sz="1800" dirty="0"/>
          </a:p>
          <a:p>
            <a:pPr>
              <a:lnSpc>
                <a:spcPct val="155000"/>
              </a:lnSpc>
              <a:spcBef>
                <a:spcPts val="1000"/>
              </a:spcBef>
            </a:pPr>
            <a:r>
              <a:rPr lang="en-US" sz="1700" b="1" dirty="0">
                <a:solidFill>
                  <a:srgbClr val="C17F2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Temel Özellikler:</a:t>
            </a:r>
            <a:endParaRPr lang="en-US" sz="1800" dirty="0"/>
          </a:p>
          <a:p>
            <a:pPr marL="285750" indent="-285750">
              <a:lnSpc>
                <a:spcPct val="155000"/>
              </a:lnSpc>
              <a:spcBef>
                <a:spcPts val="10"/>
              </a:spcBef>
              <a:buSzPct val="100000"/>
              <a:buChar char="•"/>
            </a:pPr>
            <a:r>
              <a:rPr lang="en-US" sz="1700" dirty="0">
                <a:solidFill>
                  <a:srgbClr val="2C3E5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Her düğüm birden fazla anahtar ve çocuk düğüm içerebilir</a:t>
            </a:r>
            <a:endParaRPr lang="en-US" sz="1800" dirty="0"/>
          </a:p>
          <a:p>
            <a:pPr marL="285750" indent="-285750">
              <a:lnSpc>
                <a:spcPct val="155000"/>
              </a:lnSpc>
              <a:spcBef>
                <a:spcPts val="10"/>
              </a:spcBef>
              <a:buSzPct val="100000"/>
              <a:buChar char="•"/>
            </a:pPr>
            <a:r>
              <a:rPr lang="en-US" sz="1700" dirty="0">
                <a:solidFill>
                  <a:srgbClr val="2C3E5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Tüm yaprak düğümler aynı seviyededir (dengelidir)</a:t>
            </a:r>
            <a:endParaRPr lang="en-US" sz="1800" dirty="0"/>
          </a:p>
          <a:p>
            <a:pPr marL="285750" indent="-285750">
              <a:lnSpc>
                <a:spcPct val="155000"/>
              </a:lnSpc>
              <a:spcBef>
                <a:spcPts val="10"/>
              </a:spcBef>
              <a:buSzPct val="100000"/>
              <a:buChar char="•"/>
            </a:pPr>
            <a:r>
              <a:rPr lang="en-US" sz="1700" dirty="0">
                <a:solidFill>
                  <a:srgbClr val="2C3E5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Arama, ekleme ve silme işlemleri </a:t>
            </a:r>
            <a:pPr>
              <a:lnSpc>
                <a:spcPct val="155000"/>
              </a:lnSpc>
              <a:spcBef>
                <a:spcPts val="10"/>
              </a:spcBef>
            </a:pPr>
            <a:r>
              <a:rPr lang="en-US" sz="1700" b="1" dirty="0">
                <a:solidFill>
                  <a:srgbClr val="2C3E5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O(log n)</a:t>
            </a:r>
            <a:pPr>
              <a:lnSpc>
                <a:spcPct val="155000"/>
              </a:lnSpc>
              <a:spcBef>
                <a:spcPts val="10"/>
              </a:spcBef>
            </a:pPr>
            <a:r>
              <a:rPr lang="en-US" sz="1700" dirty="0">
                <a:solidFill>
                  <a:srgbClr val="2C3E5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karmaşıklığında</a:t>
            </a:r>
            <a:endParaRPr lang="en-US" sz="1800" dirty="0"/>
          </a:p>
          <a:p>
            <a:pPr marL="285750" indent="-285750">
              <a:lnSpc>
                <a:spcPct val="155000"/>
              </a:lnSpc>
              <a:spcBef>
                <a:spcPts val="10"/>
              </a:spcBef>
              <a:buSzPct val="100000"/>
              <a:buChar char="•"/>
            </a:pPr>
            <a:r>
              <a:rPr lang="en-US" sz="1700" dirty="0">
                <a:solidFill>
                  <a:srgbClr val="2C3E5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Her düğüm hem anahtar (key) hem de veri (data) içerir</a:t>
            </a:r>
            <a:endParaRPr lang="en-US" sz="1800" dirty="0"/>
          </a:p>
          <a:p>
            <a:pPr marL="285750" indent="-285750">
              <a:lnSpc>
                <a:spcPct val="155000"/>
              </a:lnSpc>
              <a:spcBef>
                <a:spcPts val="10"/>
              </a:spcBef>
              <a:buSzPct val="100000"/>
              <a:buChar char="•"/>
            </a:pPr>
            <a:r>
              <a:rPr lang="en-US" sz="1700" dirty="0">
                <a:solidFill>
                  <a:srgbClr val="2C3E5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Disk tabanlı sistemler için optimize edilmiştir</a:t>
            </a:r>
            <a:endParaRPr lang="en-US" sz="1800" dirty="0"/>
          </a:p>
          <a:p>
            <a:pPr>
              <a:lnSpc>
                <a:spcPct val="155000"/>
              </a:lnSpc>
              <a:spcBef>
                <a:spcPts val="1000"/>
              </a:spcBef>
            </a:pPr>
            <a:r>
              <a:rPr lang="en-US" sz="1700" b="1" dirty="0">
                <a:solidFill>
                  <a:srgbClr val="C17F2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Disk Optimizasyonu:</a:t>
            </a:r>
            <a:pPr>
              <a:lnSpc>
                <a:spcPct val="155000"/>
              </a:lnSpc>
              <a:spcBef>
                <a:spcPts val="1000"/>
              </a:spcBef>
            </a:pPr>
            <a:r>
              <a:rPr lang="en-US" sz="1700" dirty="0">
                <a:solidFill>
                  <a:srgbClr val="2C3E5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Her düğüm bir disk sayfasına (page) karşılık gelir. Veritabanı sayfaları genellikle </a:t>
            </a:r>
            <a:pPr>
              <a:lnSpc>
                <a:spcPct val="155000"/>
              </a:lnSpc>
              <a:spcBef>
                <a:spcPts val="1000"/>
              </a:spcBef>
            </a:pPr>
            <a:r>
              <a:rPr lang="en-US" sz="1700" b="1" dirty="0">
                <a:solidFill>
                  <a:srgbClr val="2C3E5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4KB, 8KB</a:t>
            </a:r>
            <a:pPr>
              <a:lnSpc>
                <a:spcPct val="155000"/>
              </a:lnSpc>
              <a:spcBef>
                <a:spcPts val="1000"/>
              </a:spcBef>
            </a:pPr>
            <a:r>
              <a:rPr lang="en-US" sz="1700" dirty="0">
                <a:solidFill>
                  <a:srgbClr val="2C3E5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veya </a:t>
            </a:r>
            <a:pPr>
              <a:lnSpc>
                <a:spcPct val="155000"/>
              </a:lnSpc>
              <a:spcBef>
                <a:spcPts val="1000"/>
              </a:spcBef>
            </a:pPr>
            <a:r>
              <a:rPr lang="en-US" sz="1700" b="1" dirty="0">
                <a:solidFill>
                  <a:srgbClr val="2C3E5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16KB</a:t>
            </a:r>
            <a:pPr>
              <a:lnSpc>
                <a:spcPct val="155000"/>
              </a:lnSpc>
              <a:spcBef>
                <a:spcPts val="1000"/>
              </a:spcBef>
            </a:pPr>
            <a:r>
              <a:rPr lang="en-US" sz="1700" dirty="0">
                <a:solidFill>
                  <a:srgbClr val="2C3E5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boyutundadır.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382000" y="1651000"/>
            <a:ext cx="7112000" cy="4318000"/>
          </a:xfrm>
          <a:prstGeom prst="roundRect">
            <a:avLst>
              <a:gd name="adj" fmla="val 5000"/>
            </a:avLst>
          </a:prstGeom>
          <a:solidFill>
            <a:srgbClr val="E8ECEF"/>
          </a:solidFill>
          <a:ln/>
        </p:spPr>
      </p:sp>
      <p:sp>
        <p:nvSpPr>
          <p:cNvPr id="9" name="Text 7"/>
          <p:cNvSpPr/>
          <p:nvPr/>
        </p:nvSpPr>
        <p:spPr>
          <a:xfrm>
            <a:off x="8636000" y="1778000"/>
            <a:ext cx="660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500" b="1" dirty="0">
                <a:solidFill>
                  <a:srgbClr val="1B3A4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B-Tree Yapı Diyagramı (Derece m=3)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1049000" y="2286000"/>
            <a:ext cx="1778000" cy="558800"/>
          </a:xfrm>
          <a:prstGeom prst="roundRect">
            <a:avLst>
              <a:gd name="adj" fmla="val 8000"/>
            </a:avLst>
          </a:prstGeom>
          <a:solidFill>
            <a:srgbClr val="1B3A4B"/>
          </a:solidFill>
          <a:ln/>
        </p:spPr>
      </p:sp>
      <p:sp>
        <p:nvSpPr>
          <p:cNvPr id="11" name="Text 9"/>
          <p:cNvSpPr/>
          <p:nvPr/>
        </p:nvSpPr>
        <p:spPr>
          <a:xfrm>
            <a:off x="11049000" y="2286000"/>
            <a:ext cx="1778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[20 | 50]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890500" y="2286000"/>
            <a:ext cx="762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C17F2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← Kök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0160000" y="2844800"/>
            <a:ext cx="1524000" cy="584200"/>
          </a:xfrm>
          <a:prstGeom prst="straightConnector1">
            <a:avLst/>
          </a:prstGeom>
          <a:noFill/>
          <a:ln w="12700">
            <a:solidFill>
              <a:srgbClr val="6B7B8D"/>
            </a:solidFill>
            <a:prstDash val="solid"/>
            <a:headEnd type="none"/>
            <a:tailEnd type="none"/>
          </a:ln>
        </p:spPr>
      </p:sp>
      <p:sp>
        <p:nvSpPr>
          <p:cNvPr id="14" name="Shape 12"/>
          <p:cNvSpPr/>
          <p:nvPr/>
        </p:nvSpPr>
        <p:spPr>
          <a:xfrm>
            <a:off x="11938000" y="2844800"/>
            <a:ext cx="0" cy="584200"/>
          </a:xfrm>
          <a:prstGeom prst="straightConnector1">
            <a:avLst/>
          </a:prstGeom>
          <a:noFill/>
          <a:ln w="12700">
            <a:solidFill>
              <a:srgbClr val="6B7B8D"/>
            </a:solidFill>
            <a:prstDash val="solid"/>
            <a:headEnd type="none"/>
            <a:tailEnd type="none"/>
          </a:ln>
        </p:spPr>
      </p:sp>
      <p:sp>
        <p:nvSpPr>
          <p:cNvPr id="15" name="Shape 13"/>
          <p:cNvSpPr/>
          <p:nvPr/>
        </p:nvSpPr>
        <p:spPr>
          <a:xfrm>
            <a:off x="12192000" y="2844800"/>
            <a:ext cx="1524000" cy="584200"/>
          </a:xfrm>
          <a:prstGeom prst="straightConnector1">
            <a:avLst/>
          </a:prstGeom>
          <a:noFill/>
          <a:ln w="12700">
            <a:solidFill>
              <a:srgbClr val="6B7B8D"/>
            </a:solidFill>
            <a:prstDash val="solid"/>
            <a:headEnd type="none"/>
            <a:tailEnd type="none"/>
          </a:ln>
        </p:spPr>
      </p:sp>
      <p:sp>
        <p:nvSpPr>
          <p:cNvPr id="16" name="Shape 14"/>
          <p:cNvSpPr/>
          <p:nvPr/>
        </p:nvSpPr>
        <p:spPr>
          <a:xfrm>
            <a:off x="9271000" y="3429000"/>
            <a:ext cx="1778000" cy="558800"/>
          </a:xfrm>
          <a:prstGeom prst="roundRect">
            <a:avLst>
              <a:gd name="adj" fmla="val 8000"/>
            </a:avLst>
          </a:prstGeom>
          <a:solidFill>
            <a:srgbClr val="2C5F7C"/>
          </a:solidFill>
          <a:ln/>
        </p:spPr>
      </p:sp>
      <p:sp>
        <p:nvSpPr>
          <p:cNvPr id="17" name="Text 15"/>
          <p:cNvSpPr/>
          <p:nvPr/>
        </p:nvSpPr>
        <p:spPr>
          <a:xfrm>
            <a:off x="9271000" y="3429000"/>
            <a:ext cx="1778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[5 | 10 | 15]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1049000" y="3429000"/>
            <a:ext cx="1778000" cy="558800"/>
          </a:xfrm>
          <a:prstGeom prst="roundRect">
            <a:avLst>
              <a:gd name="adj" fmla="val 8000"/>
            </a:avLst>
          </a:prstGeom>
          <a:solidFill>
            <a:srgbClr val="2C5F7C"/>
          </a:solidFill>
          <a:ln/>
        </p:spPr>
      </p:sp>
      <p:sp>
        <p:nvSpPr>
          <p:cNvPr id="19" name="Text 17"/>
          <p:cNvSpPr/>
          <p:nvPr/>
        </p:nvSpPr>
        <p:spPr>
          <a:xfrm>
            <a:off x="11049000" y="3429000"/>
            <a:ext cx="1778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[25 | 30 | 40]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12827000" y="3429000"/>
            <a:ext cx="1778000" cy="558800"/>
          </a:xfrm>
          <a:prstGeom prst="roundRect">
            <a:avLst>
              <a:gd name="adj" fmla="val 8000"/>
            </a:avLst>
          </a:prstGeom>
          <a:solidFill>
            <a:srgbClr val="2C5F7C"/>
          </a:solidFill>
          <a:ln/>
        </p:spPr>
      </p:sp>
      <p:sp>
        <p:nvSpPr>
          <p:cNvPr id="21" name="Text 19"/>
          <p:cNvSpPr/>
          <p:nvPr/>
        </p:nvSpPr>
        <p:spPr>
          <a:xfrm>
            <a:off x="12827000" y="3429000"/>
            <a:ext cx="1778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[60 | 70 | 80]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8636000" y="3987800"/>
            <a:ext cx="1016000" cy="584200"/>
          </a:xfrm>
          <a:prstGeom prst="straightConnector1">
            <a:avLst/>
          </a:prstGeom>
          <a:noFill/>
          <a:ln w="12700">
            <a:solidFill>
              <a:srgbClr val="6B7B8D"/>
            </a:solidFill>
            <a:prstDash val="solid"/>
            <a:headEnd type="none"/>
            <a:tailEnd type="none"/>
          </a:ln>
        </p:spPr>
      </p:sp>
      <p:sp>
        <p:nvSpPr>
          <p:cNvPr id="23" name="Shape 21"/>
          <p:cNvSpPr/>
          <p:nvPr/>
        </p:nvSpPr>
        <p:spPr>
          <a:xfrm>
            <a:off x="9652000" y="3987800"/>
            <a:ext cx="0" cy="584200"/>
          </a:xfrm>
          <a:prstGeom prst="straightConnector1">
            <a:avLst/>
          </a:prstGeom>
          <a:noFill/>
          <a:ln w="12700">
            <a:solidFill>
              <a:srgbClr val="6B7B8D"/>
            </a:solidFill>
            <a:prstDash val="solid"/>
            <a:headEnd type="none"/>
            <a:tailEnd type="none"/>
          </a:ln>
        </p:spPr>
      </p:sp>
      <p:sp>
        <p:nvSpPr>
          <p:cNvPr id="24" name="Shape 22"/>
          <p:cNvSpPr/>
          <p:nvPr/>
        </p:nvSpPr>
        <p:spPr>
          <a:xfrm>
            <a:off x="9906000" y="3987800"/>
            <a:ext cx="1016000" cy="584200"/>
          </a:xfrm>
          <a:prstGeom prst="straightConnector1">
            <a:avLst/>
          </a:prstGeom>
          <a:noFill/>
          <a:ln w="12700">
            <a:solidFill>
              <a:srgbClr val="6B7B8D"/>
            </a:solidFill>
            <a:prstDash val="solid"/>
            <a:headEnd type="none"/>
            <a:tailEnd type="none"/>
          </a:ln>
        </p:spPr>
      </p:sp>
      <p:sp>
        <p:nvSpPr>
          <p:cNvPr id="25" name="Shape 23"/>
          <p:cNvSpPr/>
          <p:nvPr/>
        </p:nvSpPr>
        <p:spPr>
          <a:xfrm>
            <a:off x="10414000" y="3987800"/>
            <a:ext cx="1016000" cy="584200"/>
          </a:xfrm>
          <a:prstGeom prst="straightConnector1">
            <a:avLst/>
          </a:prstGeom>
          <a:noFill/>
          <a:ln w="12700">
            <a:solidFill>
              <a:srgbClr val="6B7B8D"/>
            </a:solidFill>
            <a:prstDash val="solid"/>
            <a:headEnd type="none"/>
            <a:tailEnd type="none"/>
          </a:ln>
        </p:spPr>
      </p:sp>
      <p:sp>
        <p:nvSpPr>
          <p:cNvPr id="26" name="Shape 24"/>
          <p:cNvSpPr/>
          <p:nvPr/>
        </p:nvSpPr>
        <p:spPr>
          <a:xfrm>
            <a:off x="11430000" y="3987800"/>
            <a:ext cx="1016000" cy="584200"/>
          </a:xfrm>
          <a:prstGeom prst="straightConnector1">
            <a:avLst/>
          </a:prstGeom>
          <a:noFill/>
          <a:ln w="12700">
            <a:solidFill>
              <a:srgbClr val="6B7B8D"/>
            </a:solidFill>
            <a:prstDash val="solid"/>
            <a:headEnd type="none"/>
            <a:tailEnd type="none"/>
          </a:ln>
        </p:spPr>
      </p:sp>
      <p:sp>
        <p:nvSpPr>
          <p:cNvPr id="27" name="Shape 25"/>
          <p:cNvSpPr/>
          <p:nvPr/>
        </p:nvSpPr>
        <p:spPr>
          <a:xfrm>
            <a:off x="12192000" y="3987800"/>
            <a:ext cx="1016000" cy="584200"/>
          </a:xfrm>
          <a:prstGeom prst="straightConnector1">
            <a:avLst/>
          </a:prstGeom>
          <a:noFill/>
          <a:ln w="12700">
            <a:solidFill>
              <a:srgbClr val="6B7B8D"/>
            </a:solidFill>
            <a:prstDash val="solid"/>
            <a:headEnd type="none"/>
            <a:tailEnd type="none"/>
          </a:ln>
        </p:spPr>
      </p:sp>
      <p:sp>
        <p:nvSpPr>
          <p:cNvPr id="28" name="Shape 26"/>
          <p:cNvSpPr/>
          <p:nvPr/>
        </p:nvSpPr>
        <p:spPr>
          <a:xfrm>
            <a:off x="13208000" y="3987800"/>
            <a:ext cx="1016000" cy="584200"/>
          </a:xfrm>
          <a:prstGeom prst="straightConnector1">
            <a:avLst/>
          </a:prstGeom>
          <a:noFill/>
          <a:ln w="12700">
            <a:solidFill>
              <a:srgbClr val="6B7B8D"/>
            </a:solidFill>
            <a:prstDash val="solid"/>
            <a:headEnd type="none"/>
            <a:tailEnd type="none"/>
          </a:ln>
        </p:spPr>
      </p:sp>
      <p:sp>
        <p:nvSpPr>
          <p:cNvPr id="29" name="Shape 27"/>
          <p:cNvSpPr/>
          <p:nvPr/>
        </p:nvSpPr>
        <p:spPr>
          <a:xfrm>
            <a:off x="8382000" y="4572000"/>
            <a:ext cx="1016000" cy="457200"/>
          </a:xfrm>
          <a:prstGeom prst="roundRect">
            <a:avLst>
              <a:gd name="adj" fmla="val 8000"/>
            </a:avLst>
          </a:prstGeom>
          <a:solidFill>
            <a:srgbClr val="C17F24"/>
          </a:solidFill>
          <a:ln/>
        </p:spPr>
      </p:sp>
      <p:sp>
        <p:nvSpPr>
          <p:cNvPr id="30" name="Text 28"/>
          <p:cNvSpPr/>
          <p:nvPr/>
        </p:nvSpPr>
        <p:spPr>
          <a:xfrm>
            <a:off x="8382000" y="4572000"/>
            <a:ext cx="1016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[1|2|3]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9525000" y="4572000"/>
            <a:ext cx="1016000" cy="457200"/>
          </a:xfrm>
          <a:prstGeom prst="roundRect">
            <a:avLst>
              <a:gd name="adj" fmla="val 8000"/>
            </a:avLst>
          </a:prstGeom>
          <a:solidFill>
            <a:srgbClr val="C17F24"/>
          </a:solidFill>
          <a:ln/>
        </p:spPr>
      </p:sp>
      <p:sp>
        <p:nvSpPr>
          <p:cNvPr id="32" name="Text 30"/>
          <p:cNvSpPr/>
          <p:nvPr/>
        </p:nvSpPr>
        <p:spPr>
          <a:xfrm>
            <a:off x="9525000" y="4572000"/>
            <a:ext cx="1016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[6|8]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10668000" y="4572000"/>
            <a:ext cx="1016000" cy="457200"/>
          </a:xfrm>
          <a:prstGeom prst="roundRect">
            <a:avLst>
              <a:gd name="adj" fmla="val 8000"/>
            </a:avLst>
          </a:prstGeom>
          <a:solidFill>
            <a:srgbClr val="C17F24"/>
          </a:solidFill>
          <a:ln/>
        </p:spPr>
      </p:sp>
      <p:sp>
        <p:nvSpPr>
          <p:cNvPr id="34" name="Text 32"/>
          <p:cNvSpPr/>
          <p:nvPr/>
        </p:nvSpPr>
        <p:spPr>
          <a:xfrm>
            <a:off x="10668000" y="4572000"/>
            <a:ext cx="1016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[12|18]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11811000" y="4572000"/>
            <a:ext cx="1016000" cy="457200"/>
          </a:xfrm>
          <a:prstGeom prst="roundRect">
            <a:avLst>
              <a:gd name="adj" fmla="val 8000"/>
            </a:avLst>
          </a:prstGeom>
          <a:solidFill>
            <a:srgbClr val="C17F24"/>
          </a:solidFill>
          <a:ln/>
        </p:spPr>
      </p:sp>
      <p:sp>
        <p:nvSpPr>
          <p:cNvPr id="36" name="Text 34"/>
          <p:cNvSpPr/>
          <p:nvPr/>
        </p:nvSpPr>
        <p:spPr>
          <a:xfrm>
            <a:off x="11811000" y="4572000"/>
            <a:ext cx="1016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[22|35]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12954000" y="4572000"/>
            <a:ext cx="1016000" cy="457200"/>
          </a:xfrm>
          <a:prstGeom prst="roundRect">
            <a:avLst>
              <a:gd name="adj" fmla="val 8000"/>
            </a:avLst>
          </a:prstGeom>
          <a:solidFill>
            <a:srgbClr val="C17F24"/>
          </a:solidFill>
          <a:ln/>
        </p:spPr>
      </p:sp>
      <p:sp>
        <p:nvSpPr>
          <p:cNvPr id="38" name="Text 36"/>
          <p:cNvSpPr/>
          <p:nvPr/>
        </p:nvSpPr>
        <p:spPr>
          <a:xfrm>
            <a:off x="12954000" y="4572000"/>
            <a:ext cx="1016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[45|48]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14097000" y="4572000"/>
            <a:ext cx="1016000" cy="457200"/>
          </a:xfrm>
          <a:prstGeom prst="roundRect">
            <a:avLst>
              <a:gd name="adj" fmla="val 8000"/>
            </a:avLst>
          </a:prstGeom>
          <a:solidFill>
            <a:srgbClr val="C17F24"/>
          </a:solidFill>
          <a:ln/>
        </p:spPr>
      </p:sp>
      <p:sp>
        <p:nvSpPr>
          <p:cNvPr id="40" name="Text 38"/>
          <p:cNvSpPr/>
          <p:nvPr/>
        </p:nvSpPr>
        <p:spPr>
          <a:xfrm>
            <a:off x="14097000" y="4572000"/>
            <a:ext cx="1016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[55|65]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8382000" y="5080000"/>
            <a:ext cx="6858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Yaprak Düğümler — Anahtar + Veri içerir (tümü aynı seviyede)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762000" y="6223000"/>
            <a:ext cx="1473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C17F2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Not: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B-Tree'de her düğüm (kök, iç ve yaprak) hem anahtar hem de veri içerir. Ağaç otomatik olarak dengelidir — ekleme/silme işlemlerinde dengeyi korumak için düğüm birleştirme ve bölme işlemleri yapılır.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04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762000" y="304800"/>
            <a:ext cx="1397000" cy="330200"/>
          </a:xfrm>
          <a:prstGeom prst="roundRect">
            <a:avLst>
              <a:gd name="adj" fmla="val 8000"/>
            </a:avLst>
          </a:prstGeom>
          <a:solidFill>
            <a:srgbClr val="1B3A4B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304800"/>
            <a:ext cx="1397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BÖLÜM 01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62000" y="787400"/>
            <a:ext cx="889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000" b="1" dirty="0">
                <a:solidFill>
                  <a:srgbClr val="1B3A4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B+ Tree (B+ Ağacı) Nedir?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762000" y="1397000"/>
            <a:ext cx="762000" cy="38100"/>
          </a:xfrm>
          <a:prstGeom prst="rect">
            <a:avLst/>
          </a:prstGeom>
          <a:solidFill>
            <a:srgbClr val="C17F24"/>
          </a:solidFill>
          <a:ln/>
        </p:spPr>
      </p:sp>
      <p:sp>
        <p:nvSpPr>
          <p:cNvPr id="7" name="Text 5"/>
          <p:cNvSpPr/>
          <p:nvPr/>
        </p:nvSpPr>
        <p:spPr>
          <a:xfrm>
            <a:off x="762000" y="1651000"/>
            <a:ext cx="7112000" cy="469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5000"/>
              </a:lnSpc>
            </a:pPr>
            <a:r>
              <a:rPr lang="en-US" sz="1700" b="1" dirty="0">
                <a:solidFill>
                  <a:srgbClr val="C17F2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Tanım:</a:t>
            </a:r>
            <a:pPr>
              <a:lnSpc>
                <a:spcPct val="155000"/>
              </a:lnSpc>
            </a:pPr>
            <a:r>
              <a:rPr lang="en-US" sz="1700" dirty="0">
                <a:solidFill>
                  <a:srgbClr val="2C3E5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B-Tree'nin geliştirilmiş varyantıdır. Tüm veriler sadece yaprak düğümlerde saklanır.</a:t>
            </a:r>
            <a:endParaRPr lang="en-US" sz="1800" dirty="0"/>
          </a:p>
          <a:p>
            <a:pPr>
              <a:lnSpc>
                <a:spcPct val="155000"/>
              </a:lnSpc>
              <a:spcBef>
                <a:spcPts val="1000"/>
              </a:spcBef>
            </a:pPr>
            <a:r>
              <a:rPr lang="en-US" sz="1700" b="1" dirty="0">
                <a:solidFill>
                  <a:srgbClr val="C17F2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Temel Özellikler:</a:t>
            </a:r>
            <a:endParaRPr lang="en-US" sz="1800" dirty="0"/>
          </a:p>
          <a:p>
            <a:pPr marL="285750" indent="-285750">
              <a:lnSpc>
                <a:spcPct val="155000"/>
              </a:lnSpc>
              <a:spcBef>
                <a:spcPts val="10"/>
              </a:spcBef>
              <a:buSzPct val="100000"/>
              <a:buChar char="•"/>
            </a:pPr>
            <a:r>
              <a:rPr lang="en-US" sz="1700" dirty="0">
                <a:solidFill>
                  <a:srgbClr val="2C3E5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İç düğümler sadece yönlendirme anahtarları içerir</a:t>
            </a:r>
            <a:endParaRPr lang="en-US" sz="1800" dirty="0"/>
          </a:p>
          <a:p>
            <a:pPr marL="285750" indent="-285750">
              <a:lnSpc>
                <a:spcPct val="155000"/>
              </a:lnSpc>
              <a:spcBef>
                <a:spcPts val="10"/>
              </a:spcBef>
              <a:buSzPct val="100000"/>
              <a:buChar char="•"/>
            </a:pPr>
            <a:r>
              <a:rPr lang="en-US" sz="1700" dirty="0">
                <a:solidFill>
                  <a:srgbClr val="2C3E5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Yaprak düğümler birbirine bağlı liste yapısındadır</a:t>
            </a:r>
            <a:endParaRPr lang="en-US" sz="1800" dirty="0"/>
          </a:p>
          <a:p>
            <a:pPr marL="285750" indent="-285750">
              <a:lnSpc>
                <a:spcPct val="155000"/>
              </a:lnSpc>
              <a:spcBef>
                <a:spcPts val="10"/>
              </a:spcBef>
              <a:buSzPct val="100000"/>
              <a:buChar char="•"/>
            </a:pPr>
            <a:r>
              <a:rPr lang="en-US" sz="1700" dirty="0">
                <a:solidFill>
                  <a:srgbClr val="2C3E5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Aralık sorguları (range queries) çok daha hızlıdır</a:t>
            </a:r>
            <a:endParaRPr lang="en-US" sz="1800" dirty="0"/>
          </a:p>
          <a:p>
            <a:pPr marL="285750" indent="-285750">
              <a:lnSpc>
                <a:spcPct val="155000"/>
              </a:lnSpc>
              <a:spcBef>
                <a:spcPts val="10"/>
              </a:spcBef>
              <a:buSzPct val="100000"/>
              <a:buChar char="•"/>
            </a:pPr>
            <a:r>
              <a:rPr lang="en-US" sz="1700" dirty="0">
                <a:solidFill>
                  <a:srgbClr val="2C3E5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Daha yüksek derece (order) — daha az disk erişimi</a:t>
            </a:r>
            <a:endParaRPr lang="en-US" sz="1800" dirty="0"/>
          </a:p>
          <a:p>
            <a:pPr marL="285750" indent="-285750">
              <a:lnSpc>
                <a:spcPct val="155000"/>
              </a:lnSpc>
              <a:spcBef>
                <a:spcPts val="10"/>
              </a:spcBef>
              <a:buSzPct val="100000"/>
              <a:buChar char="•"/>
            </a:pPr>
            <a:r>
              <a:rPr lang="en-US" sz="1700" dirty="0">
                <a:solidFill>
                  <a:srgbClr val="2C3E5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Tüm veriler aynı seviyede (yapraklarda) saklanır</a:t>
            </a:r>
            <a:endParaRPr lang="en-US" sz="1800" dirty="0"/>
          </a:p>
          <a:p>
            <a:pPr>
              <a:lnSpc>
                <a:spcPct val="155000"/>
              </a:lnSpc>
              <a:spcBef>
                <a:spcPts val="1000"/>
              </a:spcBef>
            </a:pPr>
            <a:r>
              <a:rPr lang="en-US" sz="1700" b="1" dirty="0">
                <a:solidFill>
                  <a:srgbClr val="C17F2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Avantaj:</a:t>
            </a:r>
            <a:pPr>
              <a:lnSpc>
                <a:spcPct val="155000"/>
              </a:lnSpc>
              <a:spcBef>
                <a:spcPts val="1000"/>
              </a:spcBef>
            </a:pPr>
            <a:r>
              <a:rPr lang="en-US" sz="1700" dirty="0">
                <a:solidFill>
                  <a:srgbClr val="2C3E5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İç düğümler sadece anahtar içerdiği için sayfa başına daha fazla anahtar sığar. Bu da ağacın daha alçak olmasını ve daha az disk I/O yapılmasını sağlar.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382000" y="1651000"/>
            <a:ext cx="7112000" cy="4699000"/>
          </a:xfrm>
          <a:prstGeom prst="roundRect">
            <a:avLst>
              <a:gd name="adj" fmla="val 5000"/>
            </a:avLst>
          </a:prstGeom>
          <a:solidFill>
            <a:srgbClr val="E8ECEF"/>
          </a:solidFill>
          <a:ln/>
        </p:spPr>
      </p:sp>
      <p:sp>
        <p:nvSpPr>
          <p:cNvPr id="9" name="Text 7"/>
          <p:cNvSpPr/>
          <p:nvPr/>
        </p:nvSpPr>
        <p:spPr>
          <a:xfrm>
            <a:off x="8636000" y="1778000"/>
            <a:ext cx="660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500" b="1" dirty="0">
                <a:solidFill>
                  <a:srgbClr val="1B3A4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B+ Tree Yapı Diyagramı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1049000" y="2286000"/>
            <a:ext cx="1778000" cy="508000"/>
          </a:xfrm>
          <a:prstGeom prst="roundRect">
            <a:avLst>
              <a:gd name="adj" fmla="val 8000"/>
            </a:avLst>
          </a:prstGeom>
          <a:solidFill>
            <a:srgbClr val="1B3A4B"/>
          </a:solidFill>
          <a:ln/>
        </p:spPr>
      </p:sp>
      <p:sp>
        <p:nvSpPr>
          <p:cNvPr id="11" name="Text 9"/>
          <p:cNvSpPr/>
          <p:nvPr/>
        </p:nvSpPr>
        <p:spPr>
          <a:xfrm>
            <a:off x="11049000" y="2286000"/>
            <a:ext cx="1778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[20 | 50]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890500" y="2286000"/>
            <a:ext cx="6985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C17F2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← Kök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0160000" y="2794000"/>
            <a:ext cx="1524000" cy="508000"/>
          </a:xfrm>
          <a:prstGeom prst="straightConnector1">
            <a:avLst/>
          </a:prstGeom>
          <a:noFill/>
          <a:ln w="12700">
            <a:solidFill>
              <a:srgbClr val="6B7B8D"/>
            </a:solidFill>
            <a:prstDash val="solid"/>
            <a:headEnd type="none"/>
            <a:tailEnd type="none"/>
          </a:ln>
        </p:spPr>
      </p:sp>
      <p:sp>
        <p:nvSpPr>
          <p:cNvPr id="14" name="Shape 12"/>
          <p:cNvSpPr/>
          <p:nvPr/>
        </p:nvSpPr>
        <p:spPr>
          <a:xfrm>
            <a:off x="11938000" y="2794000"/>
            <a:ext cx="0" cy="508000"/>
          </a:xfrm>
          <a:prstGeom prst="straightConnector1">
            <a:avLst/>
          </a:prstGeom>
          <a:noFill/>
          <a:ln w="12700">
            <a:solidFill>
              <a:srgbClr val="6B7B8D"/>
            </a:solidFill>
            <a:prstDash val="solid"/>
            <a:headEnd type="none"/>
            <a:tailEnd type="none"/>
          </a:ln>
        </p:spPr>
      </p:sp>
      <p:sp>
        <p:nvSpPr>
          <p:cNvPr id="15" name="Shape 13"/>
          <p:cNvSpPr/>
          <p:nvPr/>
        </p:nvSpPr>
        <p:spPr>
          <a:xfrm>
            <a:off x="12192000" y="2794000"/>
            <a:ext cx="1524000" cy="508000"/>
          </a:xfrm>
          <a:prstGeom prst="straightConnector1">
            <a:avLst/>
          </a:prstGeom>
          <a:noFill/>
          <a:ln w="12700">
            <a:solidFill>
              <a:srgbClr val="6B7B8D"/>
            </a:solidFill>
            <a:prstDash val="solid"/>
            <a:headEnd type="none"/>
            <a:tailEnd type="none"/>
          </a:ln>
        </p:spPr>
      </p:sp>
      <p:sp>
        <p:nvSpPr>
          <p:cNvPr id="16" name="Shape 14"/>
          <p:cNvSpPr/>
          <p:nvPr/>
        </p:nvSpPr>
        <p:spPr>
          <a:xfrm>
            <a:off x="9271000" y="3302000"/>
            <a:ext cx="1778000" cy="508000"/>
          </a:xfrm>
          <a:prstGeom prst="roundRect">
            <a:avLst>
              <a:gd name="adj" fmla="val 8000"/>
            </a:avLst>
          </a:prstGeom>
          <a:solidFill>
            <a:srgbClr val="2C5F7C"/>
          </a:solidFill>
          <a:ln/>
        </p:spPr>
      </p:sp>
      <p:sp>
        <p:nvSpPr>
          <p:cNvPr id="17" name="Text 15"/>
          <p:cNvSpPr/>
          <p:nvPr/>
        </p:nvSpPr>
        <p:spPr>
          <a:xfrm>
            <a:off x="9271000" y="3302000"/>
            <a:ext cx="1778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[10 | 15]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1049000" y="3302000"/>
            <a:ext cx="1778000" cy="508000"/>
          </a:xfrm>
          <a:prstGeom prst="roundRect">
            <a:avLst>
              <a:gd name="adj" fmla="val 8000"/>
            </a:avLst>
          </a:prstGeom>
          <a:solidFill>
            <a:srgbClr val="2C5F7C"/>
          </a:solidFill>
          <a:ln/>
        </p:spPr>
      </p:sp>
      <p:sp>
        <p:nvSpPr>
          <p:cNvPr id="19" name="Text 17"/>
          <p:cNvSpPr/>
          <p:nvPr/>
        </p:nvSpPr>
        <p:spPr>
          <a:xfrm>
            <a:off x="11049000" y="3302000"/>
            <a:ext cx="1778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[30 | 40]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12827000" y="3302000"/>
            <a:ext cx="1778000" cy="508000"/>
          </a:xfrm>
          <a:prstGeom prst="roundRect">
            <a:avLst>
              <a:gd name="adj" fmla="val 8000"/>
            </a:avLst>
          </a:prstGeom>
          <a:solidFill>
            <a:srgbClr val="2C5F7C"/>
          </a:solidFill>
          <a:ln/>
        </p:spPr>
      </p:sp>
      <p:sp>
        <p:nvSpPr>
          <p:cNvPr id="21" name="Text 19"/>
          <p:cNvSpPr/>
          <p:nvPr/>
        </p:nvSpPr>
        <p:spPr>
          <a:xfrm>
            <a:off x="12827000" y="3302000"/>
            <a:ext cx="1778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[60 | 70]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9652000" y="3810000"/>
            <a:ext cx="1016000" cy="508000"/>
          </a:xfrm>
          <a:prstGeom prst="straightConnector1">
            <a:avLst/>
          </a:prstGeom>
          <a:noFill/>
          <a:ln w="12700">
            <a:solidFill>
              <a:srgbClr val="6B7B8D"/>
            </a:solidFill>
            <a:prstDash val="solid"/>
            <a:headEnd type="none"/>
            <a:tailEnd type="none"/>
          </a:ln>
        </p:spPr>
      </p:sp>
      <p:sp>
        <p:nvSpPr>
          <p:cNvPr id="23" name="Shape 21"/>
          <p:cNvSpPr/>
          <p:nvPr/>
        </p:nvSpPr>
        <p:spPr>
          <a:xfrm>
            <a:off x="11430000" y="3810000"/>
            <a:ext cx="1016000" cy="508000"/>
          </a:xfrm>
          <a:prstGeom prst="straightConnector1">
            <a:avLst/>
          </a:prstGeom>
          <a:noFill/>
          <a:ln w="12700">
            <a:solidFill>
              <a:srgbClr val="6B7B8D"/>
            </a:solidFill>
            <a:prstDash val="solid"/>
            <a:headEnd type="none"/>
            <a:tailEnd type="none"/>
          </a:ln>
        </p:spPr>
      </p:sp>
      <p:sp>
        <p:nvSpPr>
          <p:cNvPr id="24" name="Shape 22"/>
          <p:cNvSpPr/>
          <p:nvPr/>
        </p:nvSpPr>
        <p:spPr>
          <a:xfrm>
            <a:off x="13208000" y="3810000"/>
            <a:ext cx="1016000" cy="508000"/>
          </a:xfrm>
          <a:prstGeom prst="straightConnector1">
            <a:avLst/>
          </a:prstGeom>
          <a:noFill/>
          <a:ln w="12700">
            <a:solidFill>
              <a:srgbClr val="6B7B8D"/>
            </a:solidFill>
            <a:prstDash val="solid"/>
            <a:headEnd type="none"/>
            <a:tailEnd type="none"/>
          </a:ln>
        </p:spPr>
      </p:sp>
      <p:sp>
        <p:nvSpPr>
          <p:cNvPr id="25" name="Shape 23"/>
          <p:cNvSpPr/>
          <p:nvPr/>
        </p:nvSpPr>
        <p:spPr>
          <a:xfrm>
            <a:off x="8890000" y="4318000"/>
            <a:ext cx="1524000" cy="508000"/>
          </a:xfrm>
          <a:prstGeom prst="roundRect">
            <a:avLst>
              <a:gd name="adj" fmla="val 8000"/>
            </a:avLst>
          </a:prstGeom>
          <a:solidFill>
            <a:srgbClr val="C17F24"/>
          </a:solidFill>
          <a:ln/>
        </p:spPr>
      </p:sp>
      <p:sp>
        <p:nvSpPr>
          <p:cNvPr id="26" name="Text 24"/>
          <p:cNvSpPr/>
          <p:nvPr/>
        </p:nvSpPr>
        <p:spPr>
          <a:xfrm>
            <a:off x="8890000" y="4318000"/>
            <a:ext cx="1524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[1|5|10|15:DATA]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10668000" y="4318000"/>
            <a:ext cx="1524000" cy="508000"/>
          </a:xfrm>
          <a:prstGeom prst="roundRect">
            <a:avLst>
              <a:gd name="adj" fmla="val 8000"/>
            </a:avLst>
          </a:prstGeom>
          <a:solidFill>
            <a:srgbClr val="C17F24"/>
          </a:solidFill>
          <a:ln/>
        </p:spPr>
      </p:sp>
      <p:sp>
        <p:nvSpPr>
          <p:cNvPr id="28" name="Text 26"/>
          <p:cNvSpPr/>
          <p:nvPr/>
        </p:nvSpPr>
        <p:spPr>
          <a:xfrm>
            <a:off x="10668000" y="4318000"/>
            <a:ext cx="1524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[20|30|40:DATA]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12446000" y="4318000"/>
            <a:ext cx="1524000" cy="508000"/>
          </a:xfrm>
          <a:prstGeom prst="roundRect">
            <a:avLst>
              <a:gd name="adj" fmla="val 8000"/>
            </a:avLst>
          </a:prstGeom>
          <a:solidFill>
            <a:srgbClr val="C17F24"/>
          </a:solidFill>
          <a:ln/>
        </p:spPr>
      </p:sp>
      <p:sp>
        <p:nvSpPr>
          <p:cNvPr id="30" name="Text 28"/>
          <p:cNvSpPr/>
          <p:nvPr/>
        </p:nvSpPr>
        <p:spPr>
          <a:xfrm>
            <a:off x="12446000" y="4318000"/>
            <a:ext cx="1524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[50|60|70:DATA]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10414000" y="4572000"/>
            <a:ext cx="254000" cy="0"/>
          </a:xfrm>
          <a:prstGeom prst="straightConnector1">
            <a:avLst/>
          </a:prstGeom>
          <a:noFill/>
          <a:ln w="25400">
            <a:solidFill>
              <a:srgbClr val="C17F24"/>
            </a:solidFill>
            <a:prstDash val="solid"/>
            <a:headEnd type="none"/>
            <a:tailEnd type="arrow"/>
          </a:ln>
        </p:spPr>
      </p:sp>
      <p:sp>
        <p:nvSpPr>
          <p:cNvPr id="32" name="Shape 30"/>
          <p:cNvSpPr/>
          <p:nvPr/>
        </p:nvSpPr>
        <p:spPr>
          <a:xfrm>
            <a:off x="12192000" y="4572000"/>
            <a:ext cx="254000" cy="0"/>
          </a:xfrm>
          <a:prstGeom prst="straightConnector1">
            <a:avLst/>
          </a:prstGeom>
          <a:noFill/>
          <a:ln w="25400">
            <a:solidFill>
              <a:srgbClr val="C17F24"/>
            </a:solidFill>
            <a:prstDash val="solid"/>
            <a:headEnd type="none"/>
            <a:tailEnd type="arrow"/>
          </a:ln>
        </p:spPr>
      </p:sp>
      <p:sp>
        <p:nvSpPr>
          <p:cNvPr id="33" name="Text 31"/>
          <p:cNvSpPr/>
          <p:nvPr/>
        </p:nvSpPr>
        <p:spPr>
          <a:xfrm>
            <a:off x="8890000" y="4889500"/>
            <a:ext cx="508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100" dirty="0">
                <a:solidFill>
                  <a:srgbClr val="C17F2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← Yaprak düğümler birbirine bağlı (linked list)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8382000" y="5232400"/>
            <a:ext cx="7112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Yaprak Düğümler — Anahtar + Veri + Sağdaki Yaprağa İşaretçi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762000" y="6477000"/>
            <a:ext cx="14732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i="1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"Neredeyse tüm modern DBMS'ler B+Tree kullanır."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</a:t>
            </a:r>
            <a:pPr>
              <a:lnSpc>
                <a:spcPct val="150000"/>
              </a:lnSpc>
            </a:pPr>
            <a:r>
              <a:rPr lang="en-US" sz="1400" b="1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CMU 15-445 Database Systems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, Fall 2021 </a:t>
            </a:r>
            <a:pPr>
              <a:lnSpc>
                <a:spcPct val="150000"/>
              </a:lnSpc>
            </a:pPr>
            <a:r>
              <a:rPr lang="en-US" sz="1400" u="sng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  <a:hlinkClick r:id="rId1" tooltip="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[Kaynak]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05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762000" y="304800"/>
            <a:ext cx="1397000" cy="330200"/>
          </a:xfrm>
          <a:prstGeom prst="roundRect">
            <a:avLst>
              <a:gd name="adj" fmla="val 8000"/>
            </a:avLst>
          </a:prstGeom>
          <a:solidFill>
            <a:srgbClr val="1B3A4B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304800"/>
            <a:ext cx="1397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BÖLÜM 01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62000" y="787400"/>
            <a:ext cx="889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000" b="1" dirty="0">
                <a:solidFill>
                  <a:srgbClr val="1B3A4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B-Tree vs B+ Tree Karşılaştırması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762000" y="1397000"/>
            <a:ext cx="762000" cy="38100"/>
          </a:xfrm>
          <a:prstGeom prst="rect">
            <a:avLst/>
          </a:prstGeom>
          <a:solidFill>
            <a:srgbClr val="C17F24"/>
          </a:solidFill>
          <a:ln/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1651000"/>
          <a:ext cx="14732000" cy="4826000"/>
        </p:xfrm>
        <a:graphic>
          <a:graphicData uri="http://schemas.openxmlformats.org/drawingml/2006/table">
            <a:tbl>
              <a:tblPr/>
              <a:tblGrid>
                <a:gridCol w="3241040"/>
                <a:gridCol w="5745480"/>
                <a:gridCol w="5745480"/>
              </a:tblGrid>
              <a:tr h="579624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Özellik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4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B-Tree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4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B+ Tree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4B"/>
                    </a:solidFill>
                  </a:tcPr>
                </a:tc>
              </a:tr>
              <a:tr h="604825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C3E50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Yapı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C3E50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Düğümler hem anahtar hem veri içerir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C3E50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Sadece yapraklarda veri saklanır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4825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C3E50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Yaprak Düğümler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C3E50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Bağlı liste yoktur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C3E50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Bağlı liste yapısındadır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EF"/>
                    </a:solidFill>
                  </a:tcPr>
                </a:tc>
              </a:tr>
              <a:tr h="617426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C3E50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Aralık Sorgusu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C3E50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Yavaş (tüm ağaç dolaşılır)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C17F24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Hızlı (yapraklar bağlı)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4825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C3E50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Disk I/O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C3E50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Daha fazla disk erişimi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C17F24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Daha az disk erişimi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EF"/>
                    </a:solidFill>
                  </a:tcPr>
                </a:tc>
              </a:tr>
              <a:tr h="604825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C3E50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Bellek Kullanımı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C3E50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Daha az bellek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C3E50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İç düğümler için daha fazla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4825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C3E50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Derece (Order)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C3E50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Daha düşük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C17F24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Daha yüksek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EF"/>
                    </a:solidFill>
                  </a:tcPr>
                </a:tc>
              </a:tr>
              <a:tr h="604825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C3E50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Uygulama Alanı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C3E50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Genel amaçlı, bellek içi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C17F24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Veritabanları, dosya sistemleri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762000" y="6731000"/>
            <a:ext cx="1473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C17F2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Sonuç: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C3E5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Modern veritabanlarının neredeyse tamamı B+ Tree kullanır — MySQL, PostgreSQL, Oracle, SQL Server. B+ Tree'nin disk I/O optimizasyonu ve aralık sorgu performansı, onu veri tabanlı sistemler için ideal kılar.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762000" y="7620000"/>
            <a:ext cx="762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Kaynak: </a:t>
            </a:r>
            <a:pPr>
              <a:lnSpc>
                <a:spcPct val="140000"/>
              </a:lnSpc>
            </a:pPr>
            <a:r>
              <a:rPr lang="en-US" sz="1300" u="sng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  <a:hlinkClick r:id="rId1" tooltip="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Medium — B Trees and B+ Trees, 2025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06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5ahipnw5rghok/mnt/agents/output/btree-usage/images/3_Abstract_Virtual_Database_Server.png">    </p:cNvPr>
          <p:cNvPicPr>
            <a:picLocks noChangeAspect="1"/>
          </p:cNvPicPr>
          <p:nvPr/>
        </p:nvPicPr>
        <p:blipFill>
          <a:blip r:embed="rId1"/>
          <a:srcRect l="0" r="0" t="8410" b="8410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0F1F2E">
                  <a:alpha val="95000"/>
                </a:srgbClr>
              </a:gs>
              <a:gs pos="60000">
                <a:srgbClr val="0F1F2E">
                  <a:alpha val="88000"/>
                </a:srgbClr>
              </a:gs>
              <a:gs pos="100000">
                <a:srgbClr val="0F1F2E">
                  <a:alpha val="60000"/>
                </a:srgbClr>
              </a:gs>
            </a:gsLst>
            <a:lin ang="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762000" y="1524000"/>
            <a:ext cx="5080000" cy="254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0" b="1" dirty="0">
                <a:solidFill>
                  <a:srgbClr val="FFFFFF">
                    <a:alpha val="6275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762000" y="3302000"/>
            <a:ext cx="18415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spc="300" kern="0" dirty="0">
                <a:solidFill>
                  <a:srgbClr val="C17F2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BÖLÜM 02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762000" y="3937000"/>
            <a:ext cx="1016000" cy="38100"/>
          </a:xfrm>
          <a:prstGeom prst="rect">
            <a:avLst/>
          </a:prstGeom>
          <a:solidFill>
            <a:srgbClr val="C17F24"/>
          </a:solidFill>
          <a:ln/>
        </p:spPr>
      </p:sp>
      <p:sp>
        <p:nvSpPr>
          <p:cNvPr id="7" name="Text 4"/>
          <p:cNvSpPr/>
          <p:nvPr/>
        </p:nvSpPr>
        <p:spPr>
          <a:xfrm>
            <a:off x="762000" y="4191000"/>
            <a:ext cx="1016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Veri Tabanlarında Kullanımı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62000" y="5080000"/>
            <a:ext cx="889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MySQL, PostgreSQL ve MongoDB'de B+ Tree İndeksleme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762000" y="304800"/>
            <a:ext cx="1397000" cy="330200"/>
          </a:xfrm>
          <a:prstGeom prst="roundRect">
            <a:avLst>
              <a:gd name="adj" fmla="val 8000"/>
            </a:avLst>
          </a:prstGeom>
          <a:solidFill>
            <a:srgbClr val="1B3A4B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304800"/>
            <a:ext cx="1397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BÖLÜM 02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62000" y="787400"/>
            <a:ext cx="889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000" b="1" dirty="0">
                <a:solidFill>
                  <a:srgbClr val="1B3A4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MySQL (InnoDB) ve B+ Tree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762000" y="1397000"/>
            <a:ext cx="762000" cy="38100"/>
          </a:xfrm>
          <a:prstGeom prst="rect">
            <a:avLst/>
          </a:prstGeom>
          <a:solidFill>
            <a:srgbClr val="C17F24"/>
          </a:solidFill>
          <a:ln/>
        </p:spPr>
      </p:sp>
      <p:sp>
        <p:nvSpPr>
          <p:cNvPr id="7" name="Text 5"/>
          <p:cNvSpPr/>
          <p:nvPr/>
        </p:nvSpPr>
        <p:spPr>
          <a:xfrm>
            <a:off x="762000" y="1651000"/>
            <a:ext cx="7366000" cy="355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5000"/>
              </a:lnSpc>
            </a:pPr>
            <a:r>
              <a:rPr lang="en-US" sz="1700" b="1" dirty="0">
                <a:solidFill>
                  <a:srgbClr val="C17F2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InnoDB Depolama Motoru</a:t>
            </a:r>
            <a:endParaRPr lang="en-US" sz="1800" dirty="0"/>
          </a:p>
          <a:p>
            <a:pPr>
              <a:lnSpc>
                <a:spcPct val="155000"/>
              </a:lnSpc>
            </a:pPr>
            <a:r>
              <a:rPr lang="en-US" sz="1700" dirty="0">
                <a:solidFill>
                  <a:srgbClr val="2C3E5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MySQL'in InnoDB motoru B+ Tree kullanarak indeksleme yapar:</a:t>
            </a:r>
            <a:endParaRPr lang="en-US" sz="1800" dirty="0"/>
          </a:p>
          <a:p>
            <a:pPr marL="285750" indent="-285750">
              <a:lnSpc>
                <a:spcPct val="155000"/>
              </a:lnSpc>
              <a:spcBef>
                <a:spcPts val="10"/>
              </a:spcBef>
              <a:buSzPct val="100000"/>
              <a:buChar char="•"/>
            </a:pPr>
            <a:r>
              <a:rPr lang="en-US" sz="1700" b="1" dirty="0">
                <a:solidFill>
                  <a:srgbClr val="2C3E5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Birincil Anahtar (Primary Key)</a:t>
            </a:r>
            <a:pPr>
              <a:lnSpc>
                <a:spcPct val="155000"/>
              </a:lnSpc>
              <a:spcBef>
                <a:spcPts val="10"/>
              </a:spcBef>
            </a:pPr>
            <a:r>
              <a:rPr lang="en-US" sz="1700" dirty="0">
                <a:solidFill>
                  <a:srgbClr val="2C3E5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= Clustered Index</a:t>
            </a:r>
            <a:endParaRPr lang="en-US" sz="1800" dirty="0"/>
          </a:p>
          <a:p>
            <a:pPr marL="285750" indent="-285750">
              <a:lnSpc>
                <a:spcPct val="155000"/>
              </a:lnSpc>
              <a:spcBef>
                <a:spcPts val="10"/>
              </a:spcBef>
              <a:buSzPct val="100000"/>
              <a:buChar char="•"/>
            </a:pPr>
            <a:r>
              <a:rPr lang="en-US" sz="1700" dirty="0">
                <a:solidFill>
                  <a:srgbClr val="2C3E5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Yaprak düğümlerde tüm satır verisi saklanır</a:t>
            </a:r>
            <a:endParaRPr lang="en-US" sz="1800" dirty="0"/>
          </a:p>
          <a:p>
            <a:pPr marL="285750" indent="-285750">
              <a:lnSpc>
                <a:spcPct val="155000"/>
              </a:lnSpc>
              <a:spcBef>
                <a:spcPts val="10"/>
              </a:spcBef>
              <a:buSzPct val="100000"/>
              <a:buChar char="•"/>
            </a:pPr>
            <a:r>
              <a:rPr lang="en-US" sz="1700" b="1" dirty="0">
                <a:solidFill>
                  <a:srgbClr val="2C3E5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İkincil İndeksler</a:t>
            </a:r>
            <a:pPr>
              <a:lnSpc>
                <a:spcPct val="155000"/>
              </a:lnSpc>
              <a:spcBef>
                <a:spcPts val="10"/>
              </a:spcBef>
            </a:pPr>
            <a:r>
              <a:rPr lang="en-US" sz="1700" dirty="0">
                <a:solidFill>
                  <a:srgbClr val="2C3E5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yapraklarda birincil anahtar değeri tutar</a:t>
            </a:r>
            <a:endParaRPr lang="en-US" sz="1800" dirty="0"/>
          </a:p>
          <a:p>
            <a:pPr marL="285750" indent="-285750">
              <a:lnSpc>
                <a:spcPct val="155000"/>
              </a:lnSpc>
              <a:spcBef>
                <a:spcPts val="10"/>
              </a:spcBef>
              <a:buSzPct val="100000"/>
              <a:buChar char="•"/>
            </a:pPr>
            <a:r>
              <a:rPr lang="en-US" sz="1700" dirty="0">
                <a:solidFill>
                  <a:srgbClr val="2C3E5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Her tablo en az bir B+ Tree (primary key) içerir</a:t>
            </a:r>
            <a:endParaRPr lang="en-US" sz="1800" dirty="0"/>
          </a:p>
          <a:p>
            <a:pPr>
              <a:lnSpc>
                <a:spcPct val="155000"/>
              </a:lnSpc>
              <a:spcBef>
                <a:spcPts val="800"/>
              </a:spcBef>
            </a:pPr>
            <a:r>
              <a:rPr lang="en-US" sz="1700" b="1" dirty="0">
                <a:solidFill>
                  <a:srgbClr val="C17F2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Sorgu Akışı:</a:t>
            </a:r>
            <a:endParaRPr lang="en-US" sz="1800" dirty="0"/>
          </a:p>
          <a:p>
            <a:pPr>
              <a:lnSpc>
                <a:spcPct val="155000"/>
              </a:lnSpc>
            </a:pPr>
            <a:r>
              <a:rPr lang="en-US" sz="1700" dirty="0">
                <a:solidFill>
                  <a:srgbClr val="2C3E5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SELECT * FROM Users WHERE email = 'ornek@mail.com'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62000" y="5334000"/>
            <a:ext cx="14732000" cy="1778000"/>
          </a:xfrm>
          <a:prstGeom prst="roundRect">
            <a:avLst>
              <a:gd name="adj" fmla="val 4000"/>
            </a:avLst>
          </a:prstGeom>
          <a:solidFill>
            <a:srgbClr val="E8ECEF"/>
          </a:solidFill>
          <a:ln/>
        </p:spPr>
      </p:sp>
      <p:sp>
        <p:nvSpPr>
          <p:cNvPr id="9" name="Shape 7"/>
          <p:cNvSpPr/>
          <p:nvPr/>
        </p:nvSpPr>
        <p:spPr>
          <a:xfrm>
            <a:off x="1270000" y="5651500"/>
            <a:ext cx="2794000" cy="698500"/>
          </a:xfrm>
          <a:prstGeom prst="roundRect">
            <a:avLst>
              <a:gd name="adj" fmla="val 8000"/>
            </a:avLst>
          </a:prstGeom>
          <a:solidFill>
            <a:srgbClr val="1B3A4B"/>
          </a:solidFill>
          <a:ln/>
        </p:spPr>
      </p:sp>
      <p:sp>
        <p:nvSpPr>
          <p:cNvPr id="10" name="Text 8"/>
          <p:cNvSpPr/>
          <p:nvPr/>
        </p:nvSpPr>
        <p:spPr>
          <a:xfrm>
            <a:off x="1270000" y="5651500"/>
            <a:ext cx="2794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1. email İndeksinde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B+ Tree Araması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064000" y="5905500"/>
            <a:ext cx="762000" cy="0"/>
          </a:xfrm>
          <a:prstGeom prst="straightConnector1">
            <a:avLst/>
          </a:prstGeom>
          <a:noFill/>
          <a:ln w="25400">
            <a:solidFill>
              <a:srgbClr val="C17F24"/>
            </a:solidFill>
            <a:prstDash val="solid"/>
            <a:headEnd type="none"/>
            <a:tailEnd type="arrow"/>
          </a:ln>
        </p:spPr>
      </p:sp>
      <p:sp>
        <p:nvSpPr>
          <p:cNvPr id="12" name="Shape 10"/>
          <p:cNvSpPr/>
          <p:nvPr/>
        </p:nvSpPr>
        <p:spPr>
          <a:xfrm>
            <a:off x="4826000" y="5651500"/>
            <a:ext cx="2794000" cy="698500"/>
          </a:xfrm>
          <a:prstGeom prst="roundRect">
            <a:avLst>
              <a:gd name="adj" fmla="val 8000"/>
            </a:avLst>
          </a:prstGeom>
          <a:solidFill>
            <a:srgbClr val="2C5F7C"/>
          </a:solidFill>
          <a:ln/>
        </p:spPr>
      </p:sp>
      <p:sp>
        <p:nvSpPr>
          <p:cNvPr id="13" name="Text 11"/>
          <p:cNvSpPr/>
          <p:nvPr/>
        </p:nvSpPr>
        <p:spPr>
          <a:xfrm>
            <a:off x="4826000" y="5651500"/>
            <a:ext cx="2794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2. Birincil Anahtar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Değerinin Bulunması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620000" y="5905500"/>
            <a:ext cx="762000" cy="0"/>
          </a:xfrm>
          <a:prstGeom prst="straightConnector1">
            <a:avLst/>
          </a:prstGeom>
          <a:noFill/>
          <a:ln w="25400">
            <a:solidFill>
              <a:srgbClr val="C17F24"/>
            </a:solidFill>
            <a:prstDash val="solid"/>
            <a:headEnd type="none"/>
            <a:tailEnd type="arrow"/>
          </a:ln>
        </p:spPr>
      </p:sp>
      <p:sp>
        <p:nvSpPr>
          <p:cNvPr id="15" name="Shape 13"/>
          <p:cNvSpPr/>
          <p:nvPr/>
        </p:nvSpPr>
        <p:spPr>
          <a:xfrm>
            <a:off x="8382000" y="5651500"/>
            <a:ext cx="2794000" cy="698500"/>
          </a:xfrm>
          <a:prstGeom prst="roundRect">
            <a:avLst>
              <a:gd name="adj" fmla="val 8000"/>
            </a:avLst>
          </a:prstGeom>
          <a:solidFill>
            <a:srgbClr val="C17F24"/>
          </a:solidFill>
          <a:ln/>
        </p:spPr>
      </p:sp>
      <p:sp>
        <p:nvSpPr>
          <p:cNvPr id="16" name="Text 14"/>
          <p:cNvSpPr/>
          <p:nvPr/>
        </p:nvSpPr>
        <p:spPr>
          <a:xfrm>
            <a:off x="8382000" y="5651500"/>
            <a:ext cx="2794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3. Ana Tabloya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B+ Tree Lookup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11176000" y="5905500"/>
            <a:ext cx="762000" cy="0"/>
          </a:xfrm>
          <a:prstGeom prst="straightConnector1">
            <a:avLst/>
          </a:prstGeom>
          <a:noFill/>
          <a:ln w="25400">
            <a:solidFill>
              <a:srgbClr val="C17F24"/>
            </a:solidFill>
            <a:prstDash val="solid"/>
            <a:headEnd type="none"/>
            <a:tailEnd type="arrow"/>
          </a:ln>
        </p:spPr>
      </p:sp>
      <p:sp>
        <p:nvSpPr>
          <p:cNvPr id="18" name="Shape 16"/>
          <p:cNvSpPr/>
          <p:nvPr/>
        </p:nvSpPr>
        <p:spPr>
          <a:xfrm>
            <a:off x="11938000" y="5651500"/>
            <a:ext cx="2794000" cy="698500"/>
          </a:xfrm>
          <a:prstGeom prst="roundRect">
            <a:avLst>
              <a:gd name="adj" fmla="val 8000"/>
            </a:avLst>
          </a:prstGeom>
          <a:solidFill>
            <a:srgbClr val="1E5631"/>
          </a:solidFill>
          <a:ln/>
        </p:spPr>
      </p:sp>
      <p:sp>
        <p:nvSpPr>
          <p:cNvPr id="19" name="Text 17"/>
          <p:cNvSpPr/>
          <p:nvPr/>
        </p:nvSpPr>
        <p:spPr>
          <a:xfrm>
            <a:off x="11938000" y="5651500"/>
            <a:ext cx="2794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4. Satır Verisinin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Getirilmesi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636000" y="1651000"/>
            <a:ext cx="6858000" cy="3429000"/>
          </a:xfrm>
          <a:prstGeom prst="roundRect">
            <a:avLst>
              <a:gd name="adj" fmla="val 5000"/>
            </a:avLst>
          </a:prstGeom>
          <a:solidFill>
            <a:srgbClr val="E8ECEF"/>
          </a:solidFill>
          <a:ln/>
        </p:spPr>
      </p:sp>
      <p:sp>
        <p:nvSpPr>
          <p:cNvPr id="21" name="Text 19"/>
          <p:cNvSpPr/>
          <p:nvPr/>
        </p:nvSpPr>
        <p:spPr>
          <a:xfrm>
            <a:off x="8890000" y="1778000"/>
            <a:ext cx="635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500" b="1" dirty="0">
                <a:solidFill>
                  <a:srgbClr val="1B3A4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MySQL InnoDB İndeks Yapısı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890000" y="2222500"/>
            <a:ext cx="3048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dirty="0">
                <a:solidFill>
                  <a:srgbClr val="1B3A4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Primary Key (Clustered)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8890000" y="2540000"/>
            <a:ext cx="3048000" cy="1016000"/>
          </a:xfrm>
          <a:prstGeom prst="roundRect">
            <a:avLst>
              <a:gd name="adj" fmla="val 5000"/>
            </a:avLst>
          </a:prstGeom>
          <a:solidFill>
            <a:srgbClr val="1B3A4B"/>
          </a:solidFill>
          <a:ln/>
        </p:spPr>
      </p:sp>
      <p:sp>
        <p:nvSpPr>
          <p:cNvPr id="24" name="Text 22"/>
          <p:cNvSpPr/>
          <p:nvPr/>
        </p:nvSpPr>
        <p:spPr>
          <a:xfrm>
            <a:off x="8953500" y="2603500"/>
            <a:ext cx="2921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B+ Tree: user_id</a:t>
            </a:r>
            <a:endParaRPr lang="en-US" sz="1600" dirty="0"/>
          </a:p>
          <a:p>
            <a:pPr algn="ctr">
              <a:lnSpc>
                <a:spcPct val="14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Yaprak: Tüm satır verisi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2192000" y="2222500"/>
            <a:ext cx="3048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dirty="0">
                <a:solidFill>
                  <a:srgbClr val="2C5F7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Secondary Index (email)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12192000" y="2540000"/>
            <a:ext cx="3048000" cy="1016000"/>
          </a:xfrm>
          <a:prstGeom prst="roundRect">
            <a:avLst>
              <a:gd name="adj" fmla="val 5000"/>
            </a:avLst>
          </a:prstGeom>
          <a:solidFill>
            <a:srgbClr val="2C5F7C"/>
          </a:solidFill>
          <a:ln/>
        </p:spPr>
      </p:sp>
      <p:sp>
        <p:nvSpPr>
          <p:cNvPr id="27" name="Text 25"/>
          <p:cNvSpPr/>
          <p:nvPr/>
        </p:nvSpPr>
        <p:spPr>
          <a:xfrm>
            <a:off x="12255500" y="2603500"/>
            <a:ext cx="2921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B+ Tree: email</a:t>
            </a:r>
            <a:endParaRPr lang="en-US" sz="1600" dirty="0"/>
          </a:p>
          <a:p>
            <a:pPr algn="ctr">
              <a:lnSpc>
                <a:spcPct val="14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Yaprak: user_id (PK)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13716000" y="3556000"/>
            <a:ext cx="0" cy="381000"/>
          </a:xfrm>
          <a:prstGeom prst="straightConnector1">
            <a:avLst/>
          </a:prstGeom>
          <a:noFill/>
          <a:ln w="12700">
            <a:solidFill>
              <a:srgbClr val="6B7B8D"/>
            </a:solidFill>
            <a:prstDash val="sysDot"/>
            <a:headEnd type="arrow"/>
            <a:tailEnd type="none"/>
          </a:ln>
        </p:spPr>
      </p:sp>
      <p:sp>
        <p:nvSpPr>
          <p:cNvPr id="29" name="Text 27"/>
          <p:cNvSpPr/>
          <p:nvPr/>
        </p:nvSpPr>
        <p:spPr>
          <a:xfrm>
            <a:off x="13843000" y="3619500"/>
            <a:ext cx="1524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1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PK lookup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762000" y="7366000"/>
            <a:ext cx="14732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C17F2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Önemli: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C3E5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İkincil indeksler yaprak düğümlerde birincil anahtarı saklar. Bu, ek bir B+ Tree araması gerektirir ancak veri tutarlılığını ve güncelleme verimliliğini artırır.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762000" y="8128000"/>
            <a:ext cx="762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Kaynak: </a:t>
            </a:r>
            <a:pPr>
              <a:lnSpc>
                <a:spcPct val="140000"/>
              </a:lnSpc>
            </a:pPr>
            <a:r>
              <a:rPr lang="en-US" sz="1300" u="sng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  <a:hlinkClick r:id="rId1" tooltip="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PlanetScale — B-trees and Database Indexes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08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762000" y="304800"/>
            <a:ext cx="1397000" cy="330200"/>
          </a:xfrm>
          <a:prstGeom prst="roundRect">
            <a:avLst>
              <a:gd name="adj" fmla="val 8000"/>
            </a:avLst>
          </a:prstGeom>
          <a:solidFill>
            <a:srgbClr val="1B3A4B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304800"/>
            <a:ext cx="1397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BÖLÜM 02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62000" y="787400"/>
            <a:ext cx="1016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000" b="1" dirty="0">
                <a:solidFill>
                  <a:srgbClr val="1B3A4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PostgreSQL ve MongoDB'de B+ Tree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762000" y="1397000"/>
            <a:ext cx="762000" cy="38100"/>
          </a:xfrm>
          <a:prstGeom prst="rect">
            <a:avLst/>
          </a:prstGeom>
          <a:solidFill>
            <a:srgbClr val="C17F24"/>
          </a:solidFill>
          <a:ln/>
        </p:spPr>
      </p:sp>
      <p:sp>
        <p:nvSpPr>
          <p:cNvPr id="7" name="Shape 5"/>
          <p:cNvSpPr/>
          <p:nvPr/>
        </p:nvSpPr>
        <p:spPr>
          <a:xfrm>
            <a:off x="762000" y="1651000"/>
            <a:ext cx="7175500" cy="5334000"/>
          </a:xfrm>
          <a:prstGeom prst="roundRect">
            <a:avLst>
              <a:gd name="adj" fmla="val 4000"/>
            </a:avLst>
          </a:prstGeom>
          <a:solidFill>
            <a:srgbClr val="E8ECEF"/>
          </a:solidFill>
          <a:ln/>
        </p:spPr>
      </p:sp>
      <p:sp>
        <p:nvSpPr>
          <p:cNvPr id="8" name="Shape 6"/>
          <p:cNvSpPr/>
          <p:nvPr/>
        </p:nvSpPr>
        <p:spPr>
          <a:xfrm>
            <a:off x="1041400" y="1841500"/>
            <a:ext cx="355600" cy="406400"/>
          </a:xfrm>
          <a:custGeom>
            <a:avLst/>
            <a:gdLst/>
            <a:ahLst/>
            <a:cxnLst/>
            <a:rect l="l" t="t" r="r" b="b"/>
            <a:pathLst>
              <a:path w="355600" h="406400">
                <a:moveTo>
                  <a:pt x="355600" y="163354"/>
                </a:moveTo>
                <a:cubicBezTo>
                  <a:pt x="343853" y="171133"/>
                  <a:pt x="330359" y="177403"/>
                  <a:pt x="316309" y="182404"/>
                </a:cubicBezTo>
                <a:cubicBezTo>
                  <a:pt x="279003" y="195739"/>
                  <a:pt x="230029" y="203200"/>
                  <a:pt x="177800" y="203200"/>
                </a:cubicBezTo>
                <a:cubicBezTo>
                  <a:pt x="125571" y="203200"/>
                  <a:pt x="76518" y="195659"/>
                  <a:pt x="39291" y="182404"/>
                </a:cubicBezTo>
                <a:cubicBezTo>
                  <a:pt x="25321" y="177403"/>
                  <a:pt x="11747" y="171133"/>
                  <a:pt x="0" y="163354"/>
                </a:cubicBezTo>
                <a:lnTo>
                  <a:pt x="0" y="228600"/>
                </a:lnTo>
                <a:cubicBezTo>
                  <a:pt x="0" y="263684"/>
                  <a:pt x="79613" y="292100"/>
                  <a:pt x="177800" y="292100"/>
                </a:cubicBezTo>
                <a:cubicBezTo>
                  <a:pt x="275987" y="292100"/>
                  <a:pt x="355600" y="263684"/>
                  <a:pt x="355600" y="228600"/>
                </a:cubicBezTo>
                <a:lnTo>
                  <a:pt x="355600" y="163354"/>
                </a:lnTo>
                <a:close/>
                <a:moveTo>
                  <a:pt x="355600" y="101600"/>
                </a:moveTo>
                <a:lnTo>
                  <a:pt x="355600" y="63500"/>
                </a:lnTo>
                <a:cubicBezTo>
                  <a:pt x="355600" y="28416"/>
                  <a:pt x="275987" y="0"/>
                  <a:pt x="177800" y="0"/>
                </a:cubicBezTo>
                <a:cubicBezTo>
                  <a:pt x="79613" y="0"/>
                  <a:pt x="0" y="28416"/>
                  <a:pt x="0" y="63500"/>
                </a:cubicBezTo>
                <a:lnTo>
                  <a:pt x="0" y="101600"/>
                </a:lnTo>
                <a:cubicBezTo>
                  <a:pt x="0" y="136684"/>
                  <a:pt x="79613" y="165100"/>
                  <a:pt x="177800" y="165100"/>
                </a:cubicBezTo>
                <a:cubicBezTo>
                  <a:pt x="275987" y="165100"/>
                  <a:pt x="355600" y="136684"/>
                  <a:pt x="355600" y="101600"/>
                </a:cubicBezTo>
                <a:close/>
                <a:moveTo>
                  <a:pt x="316309" y="309404"/>
                </a:moveTo>
                <a:cubicBezTo>
                  <a:pt x="279083" y="322659"/>
                  <a:pt x="230108" y="330200"/>
                  <a:pt x="177800" y="330200"/>
                </a:cubicBezTo>
                <a:cubicBezTo>
                  <a:pt x="125492" y="330200"/>
                  <a:pt x="76518" y="322659"/>
                  <a:pt x="39291" y="309404"/>
                </a:cubicBezTo>
                <a:cubicBezTo>
                  <a:pt x="25321" y="304403"/>
                  <a:pt x="11747" y="298133"/>
                  <a:pt x="0" y="290354"/>
                </a:cubicBezTo>
                <a:lnTo>
                  <a:pt x="0" y="342900"/>
                </a:lnTo>
                <a:cubicBezTo>
                  <a:pt x="0" y="377984"/>
                  <a:pt x="79613" y="406400"/>
                  <a:pt x="177800" y="406400"/>
                </a:cubicBezTo>
                <a:cubicBezTo>
                  <a:pt x="275987" y="406400"/>
                  <a:pt x="355600" y="377984"/>
                  <a:pt x="355600" y="342900"/>
                </a:cubicBezTo>
                <a:lnTo>
                  <a:pt x="355600" y="290354"/>
                </a:lnTo>
                <a:cubicBezTo>
                  <a:pt x="343853" y="298133"/>
                  <a:pt x="330359" y="304403"/>
                  <a:pt x="316309" y="309404"/>
                </a:cubicBezTo>
                <a:close/>
              </a:path>
            </a:pathLst>
          </a:custGeom>
          <a:solidFill>
            <a:srgbClr val="336791"/>
          </a:solidFill>
          <a:ln/>
        </p:spPr>
      </p:sp>
      <p:sp>
        <p:nvSpPr>
          <p:cNvPr id="9" name="Text 7"/>
          <p:cNvSpPr/>
          <p:nvPr/>
        </p:nvSpPr>
        <p:spPr>
          <a:xfrm>
            <a:off x="1549400" y="1841500"/>
            <a:ext cx="381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33679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PostgreSQL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16000" y="2413000"/>
            <a:ext cx="6667500" cy="431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5000"/>
              </a:lnSpc>
            </a:pPr>
            <a:r>
              <a:rPr lang="en-US" sz="1600" b="1" dirty="0">
                <a:solidFill>
                  <a:srgbClr val="C17F2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Varsayılan İndeks:</a:t>
            </a:r>
            <a:pPr>
              <a:lnSpc>
                <a:spcPct val="155000"/>
              </a:lnSpc>
            </a:pPr>
            <a:r>
              <a:rPr lang="en-US" sz="1600" dirty="0">
                <a:solidFill>
                  <a:srgbClr val="2C3E5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B-Tree (CREATE INDEX ... USING btree)</a:t>
            </a:r>
            <a:endParaRPr lang="en-US" sz="1800" dirty="0"/>
          </a:p>
          <a:p>
            <a:pPr>
              <a:lnSpc>
                <a:spcPct val="155000"/>
              </a:lnSpc>
              <a:spcBef>
                <a:spcPts val="800"/>
              </a:spcBef>
            </a:pPr>
            <a:r>
              <a:rPr lang="en-US" sz="1600" b="1" dirty="0">
                <a:solidFill>
                  <a:srgbClr val="C17F2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Lehman-Yao Algoritması:</a:t>
            </a:r>
            <a:endParaRPr lang="en-US" sz="1800" dirty="0"/>
          </a:p>
          <a:p>
            <a:pPr marL="285750" indent="-285750">
              <a:lnSpc>
                <a:spcPct val="155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Yüksek eşzamanlılık (concurrency) desteği</a:t>
            </a:r>
            <a:endParaRPr lang="en-US" sz="1800" dirty="0"/>
          </a:p>
          <a:p>
            <a:pPr marL="285750" indent="-285750">
              <a:lnSpc>
                <a:spcPct val="155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Yaprak düğümlerde "sağ kardeş" işaretçisi</a:t>
            </a:r>
            <a:endParaRPr lang="en-US" sz="1800" dirty="0"/>
          </a:p>
          <a:p>
            <a:pPr marL="285750" indent="-285750">
              <a:lnSpc>
                <a:spcPct val="155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"Yüksek anahtar" özelliği ile page split tespiti</a:t>
            </a:r>
            <a:endParaRPr lang="en-US" sz="1800" dirty="0"/>
          </a:p>
          <a:p>
            <a:pPr>
              <a:lnSpc>
                <a:spcPct val="155000"/>
              </a:lnSpc>
              <a:spcBef>
                <a:spcPts val="800"/>
              </a:spcBef>
            </a:pPr>
            <a:r>
              <a:rPr lang="en-US" sz="1600" b="1" dirty="0">
                <a:solidFill>
                  <a:srgbClr val="C17F2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Özellik:</a:t>
            </a:r>
            <a:pPr>
              <a:lnSpc>
                <a:spcPct val="155000"/>
              </a:lnSpc>
              <a:spcBef>
                <a:spcPts val="800"/>
              </a:spcBef>
            </a:pPr>
            <a:r>
              <a:rPr lang="en-US" sz="1600" dirty="0">
                <a:solidFill>
                  <a:srgbClr val="2C3E5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Tüm indeksler doğrudan tuple'a (satır) işaret eder. MySQL'deki gibi birincil anahtar üzerinden ikinci bir arama gerekmez.</a:t>
            </a:r>
            <a:endParaRPr lang="en-US" sz="1800" dirty="0"/>
          </a:p>
          <a:p>
            <a:pPr>
              <a:lnSpc>
                <a:spcPct val="155000"/>
              </a:lnSpc>
              <a:spcBef>
                <a:spcPts val="800"/>
              </a:spcBef>
            </a:pPr>
            <a:r>
              <a:rPr lang="en-US" sz="1600" b="1" dirty="0">
                <a:solidFill>
                  <a:srgbClr val="C17F2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Komut:</a:t>
            </a:r>
            <a:endParaRPr lang="en-US" sz="1800" dirty="0"/>
          </a:p>
          <a:p>
            <a:pPr>
              <a:lnSpc>
                <a:spcPct val="155000"/>
              </a:lnSpc>
            </a:pPr>
            <a:r>
              <a:rPr lang="en-US" sz="1600" dirty="0">
                <a:solidFill>
                  <a:srgbClr val="2C3E5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CREATE INDEX idx ON table USING btree (col);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8318500" y="1651000"/>
            <a:ext cx="7175500" cy="5334000"/>
          </a:xfrm>
          <a:prstGeom prst="roundRect">
            <a:avLst>
              <a:gd name="adj" fmla="val 4000"/>
            </a:avLst>
          </a:prstGeom>
          <a:solidFill>
            <a:srgbClr val="E8ECEF"/>
          </a:solidFill>
          <a:ln/>
        </p:spPr>
      </p:sp>
      <p:sp>
        <p:nvSpPr>
          <p:cNvPr id="12" name="Shape 10"/>
          <p:cNvSpPr/>
          <p:nvPr/>
        </p:nvSpPr>
        <p:spPr>
          <a:xfrm>
            <a:off x="8572500" y="18415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374094" y="5318"/>
                </a:moveTo>
                <a:cubicBezTo>
                  <a:pt x="379174" y="476"/>
                  <a:pt x="386556" y="-1270"/>
                  <a:pt x="393383" y="953"/>
                </a:cubicBezTo>
                <a:cubicBezTo>
                  <a:pt x="401161" y="3572"/>
                  <a:pt x="406400" y="10874"/>
                  <a:pt x="406400" y="19050"/>
                </a:cubicBezTo>
                <a:lnTo>
                  <a:pt x="406400" y="167402"/>
                </a:lnTo>
                <a:cubicBezTo>
                  <a:pt x="406400" y="271542"/>
                  <a:pt x="320596" y="355600"/>
                  <a:pt x="216853" y="355600"/>
                </a:cubicBezTo>
                <a:cubicBezTo>
                  <a:pt x="155734" y="355600"/>
                  <a:pt x="103029" y="316309"/>
                  <a:pt x="83899" y="261382"/>
                </a:cubicBezTo>
                <a:cubicBezTo>
                  <a:pt x="55801" y="285829"/>
                  <a:pt x="38100" y="321786"/>
                  <a:pt x="38100" y="361950"/>
                </a:cubicBezTo>
                <a:cubicBezTo>
                  <a:pt x="38100" y="372507"/>
                  <a:pt x="29607" y="381000"/>
                  <a:pt x="19050" y="381000"/>
                </a:cubicBezTo>
                <a:cubicBezTo>
                  <a:pt x="8493" y="381000"/>
                  <a:pt x="0" y="372507"/>
                  <a:pt x="0" y="361950"/>
                </a:cubicBezTo>
                <a:cubicBezTo>
                  <a:pt x="0" y="302498"/>
                  <a:pt x="30321" y="250111"/>
                  <a:pt x="76279" y="219313"/>
                </a:cubicBezTo>
                <a:cubicBezTo>
                  <a:pt x="104299" y="200581"/>
                  <a:pt x="137716" y="190500"/>
                  <a:pt x="171450" y="190500"/>
                </a:cubicBezTo>
                <a:lnTo>
                  <a:pt x="234950" y="190500"/>
                </a:lnTo>
                <a:cubicBezTo>
                  <a:pt x="245507" y="190500"/>
                  <a:pt x="254000" y="182007"/>
                  <a:pt x="254000" y="171450"/>
                </a:cubicBezTo>
                <a:cubicBezTo>
                  <a:pt x="254000" y="160893"/>
                  <a:pt x="245507" y="152400"/>
                  <a:pt x="234950" y="152400"/>
                </a:cubicBezTo>
                <a:lnTo>
                  <a:pt x="171450" y="152400"/>
                </a:lnTo>
                <a:cubicBezTo>
                  <a:pt x="139938" y="152400"/>
                  <a:pt x="110093" y="159385"/>
                  <a:pt x="83344" y="171847"/>
                </a:cubicBezTo>
                <a:cubicBezTo>
                  <a:pt x="101838" y="116284"/>
                  <a:pt x="154146" y="76200"/>
                  <a:pt x="215900" y="76200"/>
                </a:cubicBezTo>
                <a:cubicBezTo>
                  <a:pt x="268605" y="76200"/>
                  <a:pt x="307816" y="58658"/>
                  <a:pt x="333931" y="41275"/>
                </a:cubicBezTo>
                <a:cubicBezTo>
                  <a:pt x="349171" y="31115"/>
                  <a:pt x="362109" y="18971"/>
                  <a:pt x="374174" y="5318"/>
                </a:cubicBezTo>
                <a:close/>
              </a:path>
            </a:pathLst>
          </a:custGeom>
          <a:solidFill>
            <a:srgbClr val="47A248"/>
          </a:solidFill>
          <a:ln/>
        </p:spPr>
      </p:sp>
      <p:sp>
        <p:nvSpPr>
          <p:cNvPr id="13" name="Text 11"/>
          <p:cNvSpPr/>
          <p:nvPr/>
        </p:nvSpPr>
        <p:spPr>
          <a:xfrm>
            <a:off x="9105900" y="1841500"/>
            <a:ext cx="381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47A2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MongoDB (WiredTiger)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572500" y="2413000"/>
            <a:ext cx="6667500" cy="431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5000"/>
              </a:lnSpc>
            </a:pPr>
            <a:r>
              <a:rPr lang="en-US" sz="1600" b="1" dirty="0">
                <a:solidFill>
                  <a:srgbClr val="C17F2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Depolama Motoru:</a:t>
            </a:r>
            <a:pPr>
              <a:lnSpc>
                <a:spcPct val="155000"/>
              </a:lnSpc>
            </a:pPr>
            <a:r>
              <a:rPr lang="en-US" sz="1600" dirty="0">
                <a:solidFill>
                  <a:srgbClr val="2C3E5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WiredTiger (3.2+ varsayılan)</a:t>
            </a:r>
            <a:endParaRPr lang="en-US" sz="1800" dirty="0"/>
          </a:p>
          <a:p>
            <a:pPr>
              <a:lnSpc>
                <a:spcPct val="155000"/>
              </a:lnSpc>
              <a:spcBef>
                <a:spcPts val="800"/>
              </a:spcBef>
            </a:pPr>
            <a:r>
              <a:rPr lang="en-US" sz="1600" b="1" dirty="0">
                <a:solidFill>
                  <a:srgbClr val="C17F2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B+ Tree Implementasyonu:</a:t>
            </a:r>
            <a:endParaRPr lang="en-US" sz="1800" dirty="0"/>
          </a:p>
          <a:p>
            <a:pPr marL="285750" indent="-285750">
              <a:lnSpc>
                <a:spcPct val="155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Resmi dokümanda "B-Tree" yazsa da, aslında </a:t>
            </a:r>
            <a:pPr>
              <a:lnSpc>
                <a:spcPct val="155000"/>
              </a:lnSpc>
              <a:spcBef>
                <a:spcPts val="10"/>
              </a:spcBef>
            </a:pPr>
            <a:r>
              <a:rPr lang="en-US" sz="1600" b="1" dirty="0">
                <a:solidFill>
                  <a:srgbClr val="2C3E5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B+ Tree</a:t>
            </a:r>
            <a:endParaRPr lang="en-US" sz="1800" dirty="0"/>
          </a:p>
          <a:p>
            <a:pPr marL="285750" indent="-285750">
              <a:lnSpc>
                <a:spcPct val="155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İç düğümler sadece anahtar, yapraklar anahtar+değer</a:t>
            </a:r>
            <a:endParaRPr lang="en-US" sz="1800" dirty="0"/>
          </a:p>
          <a:p>
            <a:pPr marL="285750" indent="-285750">
              <a:lnSpc>
                <a:spcPct val="155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Yaprak düğümler arası bağlantı </a:t>
            </a:r>
            <a:pPr>
              <a:lnSpc>
                <a:spcPct val="155000"/>
              </a:lnSpc>
              <a:spcBef>
                <a:spcPts val="10"/>
              </a:spcBef>
            </a:pPr>
            <a:r>
              <a:rPr lang="en-US" sz="1600" b="1" dirty="0">
                <a:solidFill>
                  <a:srgbClr val="2C3E5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yoktur</a:t>
            </a:r>
            <a:endParaRPr lang="en-US" sz="1800" dirty="0"/>
          </a:p>
          <a:p>
            <a:pPr>
              <a:lnSpc>
                <a:spcPct val="155000"/>
              </a:lnSpc>
              <a:spcBef>
                <a:spcPts val="800"/>
              </a:spcBef>
            </a:pPr>
            <a:r>
              <a:rPr lang="en-US" sz="1600" b="1" dirty="0">
                <a:solidFill>
                  <a:srgbClr val="C17F2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Fark:</a:t>
            </a:r>
            <a:pPr>
              <a:lnSpc>
                <a:spcPct val="155000"/>
              </a:lnSpc>
              <a:spcBef>
                <a:spcPts val="800"/>
              </a:spcBef>
            </a:pPr>
            <a:r>
              <a:rPr lang="en-US" sz="1600" dirty="0">
                <a:solidFill>
                  <a:srgbClr val="2C3E5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MongoDB range query odaklı olmadığı için yaprak bağlantısı atlanmıştır. Bu, yapıyı daha yalın tutar.</a:t>
            </a:r>
            <a:endParaRPr lang="en-US" sz="1800" dirty="0"/>
          </a:p>
          <a:p>
            <a:pPr>
              <a:lnSpc>
                <a:spcPct val="155000"/>
              </a:lnSpc>
              <a:spcBef>
                <a:spcPts val="800"/>
              </a:spcBef>
            </a:pPr>
            <a:r>
              <a:rPr lang="en-US" sz="1600" b="1" dirty="0">
                <a:solidFill>
                  <a:srgbClr val="C17F2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Not:</a:t>
            </a:r>
            <a:pPr>
              <a:lnSpc>
                <a:spcPct val="155000"/>
              </a:lnSpc>
              <a:spcBef>
                <a:spcPts val="800"/>
              </a:spcBef>
            </a:pPr>
            <a:r>
              <a:rPr lang="en-US" sz="1600" dirty="0">
                <a:solidFill>
                  <a:srgbClr val="2C3E5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WiredTiger ayrıca LSM Tree desteği de sunar.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62000" y="7239000"/>
            <a:ext cx="14732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C17F2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Karşılaştırma: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C3E5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PostgreSQL okuma işlemlerinde doğrudan tuple erişimiyle hızlıdır. MongoDB ise belge tabanlı yapısıyla esnek şema sunar. Her ikisi de temelde B+ Tree kullanır.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762000" y="8128000"/>
            <a:ext cx="889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Kaynak: </a:t>
            </a:r>
            <a:pPr>
              <a:lnSpc>
                <a:spcPct val="140000"/>
              </a:lnSpc>
            </a:pPr>
            <a:r>
              <a:rPr lang="en-US" sz="1300" u="sng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  <a:hlinkClick r:id="rId1" tooltip="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Medium — B Trees and B+ Trees</a:t>
            </a:r>
            <a:pPr>
              <a:lnSpc>
                <a:spcPct val="140000"/>
              </a:lnSpc>
            </a:pPr>
            <a:r>
              <a:rPr lang="en-US" sz="13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| WiredTiger Documentation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09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5ahipnw5rghok/mnt/agents/output/btree-usage/images/5_Abstract_Digital_Network_Connecting.png">    </p:cNvPr>
          <p:cNvPicPr>
            <a:picLocks noChangeAspect="1"/>
          </p:cNvPicPr>
          <p:nvPr/>
        </p:nvPicPr>
        <p:blipFill>
          <a:blip r:embed="rId1"/>
          <a:srcRect l="0" r="0" t="8942" b="8942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0F1F2E">
                  <a:alpha val="95000"/>
                </a:srgbClr>
              </a:gs>
              <a:gs pos="60000">
                <a:srgbClr val="0F1F2E">
                  <a:alpha val="88000"/>
                </a:srgbClr>
              </a:gs>
              <a:gs pos="100000">
                <a:srgbClr val="0F1F2E">
                  <a:alpha val="60000"/>
                </a:srgbClr>
              </a:gs>
            </a:gsLst>
            <a:lin ang="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762000" y="1524000"/>
            <a:ext cx="5080000" cy="254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0" b="1" dirty="0">
                <a:solidFill>
                  <a:srgbClr val="FFFFFF">
                    <a:alpha val="6275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762000" y="3302000"/>
            <a:ext cx="18415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spc="300" kern="0" dirty="0">
                <a:solidFill>
                  <a:srgbClr val="C17F2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BÖLÜM 03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762000" y="3937000"/>
            <a:ext cx="1016000" cy="38100"/>
          </a:xfrm>
          <a:prstGeom prst="rect">
            <a:avLst/>
          </a:prstGeom>
          <a:solidFill>
            <a:srgbClr val="C17F24"/>
          </a:solidFill>
          <a:ln/>
        </p:spPr>
      </p:sp>
      <p:sp>
        <p:nvSpPr>
          <p:cNvPr id="7" name="Text 4"/>
          <p:cNvSpPr/>
          <p:nvPr/>
        </p:nvSpPr>
        <p:spPr>
          <a:xfrm>
            <a:off x="762000" y="4191000"/>
            <a:ext cx="1016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Dosya Sistemlerinde Kullanımı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62000" y="5080000"/>
            <a:ext cx="889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NTFS, HFS+, XFS ve Btrfs'te B-Tree Yapıları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762000" y="304800"/>
            <a:ext cx="1397000" cy="330200"/>
          </a:xfrm>
          <a:prstGeom prst="roundRect">
            <a:avLst>
              <a:gd name="adj" fmla="val 8000"/>
            </a:avLst>
          </a:prstGeom>
          <a:solidFill>
            <a:srgbClr val="1B3A4B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304800"/>
            <a:ext cx="1397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BÖLÜM 03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62000" y="787400"/>
            <a:ext cx="1016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000" b="1" dirty="0">
                <a:solidFill>
                  <a:srgbClr val="1B3A4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Dosya Sistemlerinde B-Tree ve B+ Tree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762000" y="1397000"/>
            <a:ext cx="762000" cy="38100"/>
          </a:xfrm>
          <a:prstGeom prst="rect">
            <a:avLst/>
          </a:prstGeom>
          <a:solidFill>
            <a:srgbClr val="C17F24"/>
          </a:solidFill>
          <a:ln/>
        </p:spPr>
      </p:sp>
      <p:sp>
        <p:nvSpPr>
          <p:cNvPr id="7" name="Shape 5"/>
          <p:cNvSpPr/>
          <p:nvPr/>
        </p:nvSpPr>
        <p:spPr>
          <a:xfrm>
            <a:off x="762000" y="1651000"/>
            <a:ext cx="7175500" cy="1587500"/>
          </a:xfrm>
          <a:prstGeom prst="roundRect">
            <a:avLst>
              <a:gd name="adj" fmla="val 4000"/>
            </a:avLst>
          </a:prstGeom>
          <a:solidFill>
            <a:srgbClr val="E8ECEF"/>
          </a:solidFill>
          <a:ln/>
        </p:spPr>
      </p:sp>
      <p:sp>
        <p:nvSpPr>
          <p:cNvPr id="8" name="Shape 6"/>
          <p:cNvSpPr/>
          <p:nvPr/>
        </p:nvSpPr>
        <p:spPr>
          <a:xfrm>
            <a:off x="762000" y="1651000"/>
            <a:ext cx="63500" cy="1587500"/>
          </a:xfrm>
          <a:prstGeom prst="rect">
            <a:avLst/>
          </a:prstGeom>
          <a:solidFill>
            <a:srgbClr val="00A4EF"/>
          </a:solidFill>
          <a:ln/>
        </p:spPr>
      </p:sp>
      <p:sp>
        <p:nvSpPr>
          <p:cNvPr id="9" name="Text 7"/>
          <p:cNvSpPr/>
          <p:nvPr/>
        </p:nvSpPr>
        <p:spPr>
          <a:xfrm>
            <a:off x="1016000" y="1752600"/>
            <a:ext cx="254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B3A4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NTFS (Windows)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16000" y="2133600"/>
            <a:ext cx="6667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B+ Tree varyantı kullanır. </a:t>
            </a:r>
            <a:pPr>
              <a:lnSpc>
                <a:spcPct val="150000"/>
              </a:lnSpc>
            </a:pPr>
            <a:r>
              <a:rPr lang="en-US" sz="1400" b="1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Master File Table (MFT)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dosya ve dizin kayıtlarını tutar. Büyük dizinlerde girişler B+ Tree yapısında saklanır.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318500" y="1651000"/>
            <a:ext cx="7175500" cy="1587500"/>
          </a:xfrm>
          <a:prstGeom prst="roundRect">
            <a:avLst>
              <a:gd name="adj" fmla="val 4000"/>
            </a:avLst>
          </a:prstGeom>
          <a:solidFill>
            <a:srgbClr val="E8ECEF"/>
          </a:solidFill>
          <a:ln/>
        </p:spPr>
      </p:sp>
      <p:sp>
        <p:nvSpPr>
          <p:cNvPr id="12" name="Shape 10"/>
          <p:cNvSpPr/>
          <p:nvPr/>
        </p:nvSpPr>
        <p:spPr>
          <a:xfrm>
            <a:off x="8318500" y="1651000"/>
            <a:ext cx="63500" cy="1587500"/>
          </a:xfrm>
          <a:prstGeom prst="rect">
            <a:avLst/>
          </a:prstGeom>
          <a:solidFill>
            <a:srgbClr val="555555"/>
          </a:solidFill>
          <a:ln/>
        </p:spPr>
      </p:sp>
      <p:sp>
        <p:nvSpPr>
          <p:cNvPr id="13" name="Text 11"/>
          <p:cNvSpPr/>
          <p:nvPr/>
        </p:nvSpPr>
        <p:spPr>
          <a:xfrm>
            <a:off x="8572500" y="1752600"/>
            <a:ext cx="254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B3A4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HFS+ (macOS)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572500" y="2133600"/>
            <a:ext cx="6667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B-Tree kullanır. </a:t>
            </a:r>
            <a:pPr>
              <a:lnSpc>
                <a:spcPct val="150000"/>
              </a:lnSpc>
            </a:pPr>
            <a:r>
              <a:rPr lang="en-US" sz="1400" b="1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Catalog File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dizin ve dosya metadata'sını, </a:t>
            </a:r>
            <a:pPr>
              <a:lnSpc>
                <a:spcPct val="150000"/>
              </a:lnSpc>
            </a:pPr>
            <a:r>
              <a:rPr lang="en-US" sz="1400" b="1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Extents Overflow File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parçalanmış dosyaları izler.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62000" y="3492500"/>
            <a:ext cx="7175500" cy="1587500"/>
          </a:xfrm>
          <a:prstGeom prst="roundRect">
            <a:avLst>
              <a:gd name="adj" fmla="val 4000"/>
            </a:avLst>
          </a:prstGeom>
          <a:solidFill>
            <a:srgbClr val="E8ECEF"/>
          </a:solidFill>
          <a:ln/>
        </p:spPr>
      </p:sp>
      <p:sp>
        <p:nvSpPr>
          <p:cNvPr id="16" name="Shape 14"/>
          <p:cNvSpPr/>
          <p:nvPr/>
        </p:nvSpPr>
        <p:spPr>
          <a:xfrm>
            <a:off x="762000" y="3492500"/>
            <a:ext cx="63500" cy="1587500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17" name="Text 15"/>
          <p:cNvSpPr/>
          <p:nvPr/>
        </p:nvSpPr>
        <p:spPr>
          <a:xfrm>
            <a:off x="1016000" y="3594100"/>
            <a:ext cx="254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B3A4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XFS (Linux)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16000" y="3975100"/>
            <a:ext cx="6667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SGI tarafından geliştirilen yüksek performanslı dosya sistemi. B+ Tree kullanır: dizin içerikleri, extent allocation ve boş alan yönetimi.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318500" y="3492500"/>
            <a:ext cx="7175500" cy="1587500"/>
          </a:xfrm>
          <a:prstGeom prst="roundRect">
            <a:avLst>
              <a:gd name="adj" fmla="val 4000"/>
            </a:avLst>
          </a:prstGeom>
          <a:solidFill>
            <a:srgbClr val="E8ECEF"/>
          </a:solidFill>
          <a:ln/>
        </p:spPr>
      </p:sp>
      <p:sp>
        <p:nvSpPr>
          <p:cNvPr id="20" name="Shape 18"/>
          <p:cNvSpPr/>
          <p:nvPr/>
        </p:nvSpPr>
        <p:spPr>
          <a:xfrm>
            <a:off x="8318500" y="3492500"/>
            <a:ext cx="63500" cy="1587500"/>
          </a:xfrm>
          <a:prstGeom prst="rect">
            <a:avLst/>
          </a:prstGeom>
          <a:solidFill>
            <a:srgbClr val="FCC624"/>
          </a:solidFill>
          <a:ln/>
        </p:spPr>
      </p:sp>
      <p:sp>
        <p:nvSpPr>
          <p:cNvPr id="21" name="Text 19"/>
          <p:cNvSpPr/>
          <p:nvPr/>
        </p:nvSpPr>
        <p:spPr>
          <a:xfrm>
            <a:off x="8572500" y="3594100"/>
            <a:ext cx="381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B3A4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Btrfs (B-Tree File System)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572500" y="3975100"/>
            <a:ext cx="6667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Modern Linux dosya sistemi. </a:t>
            </a:r>
            <a:pPr>
              <a:lnSpc>
                <a:spcPct val="150000"/>
              </a:lnSpc>
            </a:pPr>
            <a:r>
              <a:rPr lang="en-US" sz="1400" b="1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Her şey B-Tree'de: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dosya verisi, metadata, dizinler, snapshot'lar. Copy-on-Write (CoW) tasarım.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762000" y="5334000"/>
            <a:ext cx="14732000" cy="1778000"/>
          </a:xfrm>
          <a:prstGeom prst="roundRect">
            <a:avLst>
              <a:gd name="adj" fmla="val 3000"/>
            </a:avLst>
          </a:prstGeom>
          <a:solidFill>
            <a:srgbClr val="1B3A4B"/>
          </a:solidFill>
          <a:ln/>
        </p:spPr>
      </p:sp>
      <p:sp>
        <p:nvSpPr>
          <p:cNvPr id="24" name="Text 22"/>
          <p:cNvSpPr/>
          <p:nvPr/>
        </p:nvSpPr>
        <p:spPr>
          <a:xfrm>
            <a:off x="1016000" y="54610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C17F2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Özet Tablo</a:t>
            </a:r>
            <a:endParaRPr lang="en-US" sz="16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16000" y="5867400"/>
          <a:ext cx="14224000" cy="1079500"/>
        </p:xfrm>
        <a:graphic>
          <a:graphicData uri="http://schemas.openxmlformats.org/drawingml/2006/table">
            <a:tbl>
              <a:tblPr/>
              <a:tblGrid>
                <a:gridCol w="2560320"/>
                <a:gridCol w="2844800"/>
                <a:gridCol w="2844800"/>
                <a:gridCol w="2844800"/>
                <a:gridCol w="3129280"/>
              </a:tblGrid>
              <a:tr h="482600">
                <a:tc>
                  <a:txBody>
                    <a:bodyPr/>
                    <a:lstStyle/>
                    <a:p>
                      <a:pPr algn="l"/>
                      <a:r>
                        <a:rPr lang="en-US" sz="1300" b="1" u="none" dirty="0">
                          <a:solidFill>
                            <a:srgbClr val="C17F24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Özellik</a:t>
                      </a:r>
                      <a:endParaRPr lang="en-US" sz="13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1" u="none" dirty="0">
                          <a:solidFill>
                            <a:srgbClr val="C17F24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NTFS</a:t>
                      </a:r>
                      <a:endParaRPr lang="en-US" sz="13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1" u="none" dirty="0">
                          <a:solidFill>
                            <a:srgbClr val="C17F24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HFS+</a:t>
                      </a:r>
                      <a:endParaRPr lang="en-US" sz="13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1" u="none" dirty="0">
                          <a:solidFill>
                            <a:srgbClr val="C17F24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XFS</a:t>
                      </a:r>
                      <a:endParaRPr lang="en-US" sz="13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1" u="none" dirty="0">
                          <a:solidFill>
                            <a:srgbClr val="C17F24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Btrfs</a:t>
                      </a:r>
                      <a:endParaRPr lang="en-US" sz="13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596900">
                <a:tc>
                  <a:txBody>
                    <a:bodyPr/>
                    <a:lstStyle/>
                    <a:p>
                      <a:pPr algn="l"/>
                      <a:r>
                        <a:rPr lang="en-US" sz="1300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Ağaç Türü</a:t>
                      </a:r>
                      <a:endParaRPr lang="en-US" sz="13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B+ Tree</a:t>
                      </a:r>
                      <a:endParaRPr lang="en-US" sz="13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B-Tree</a:t>
                      </a:r>
                      <a:endParaRPr lang="en-US" sz="13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B+ Tree</a:t>
                      </a:r>
                      <a:endParaRPr lang="en-US" sz="13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B-Tree (Her Şey)</a:t>
                      </a:r>
                      <a:endParaRPr lang="en-US" sz="13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6" name="Text 23"/>
          <p:cNvSpPr/>
          <p:nvPr/>
        </p:nvSpPr>
        <p:spPr>
          <a:xfrm>
            <a:off x="762000" y="7429500"/>
            <a:ext cx="889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Kaynak: </a:t>
            </a:r>
            <a:pPr>
              <a:lnSpc>
                <a:spcPct val="140000"/>
              </a:lnSpc>
            </a:pPr>
            <a:r>
              <a:rPr lang="en-US" sz="1300" u="sng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  <a:hlinkClick r:id="rId1" tooltip="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B-Trees and File Systems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11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5ahipnw5rghok/mnt/agents/output/btree-usage/images/4_3_994_Abstract_Blue_Network_Data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0F1F2E">
                  <a:alpha val="95000"/>
                </a:srgbClr>
              </a:gs>
              <a:gs pos="60000">
                <a:srgbClr val="0F1F2E">
                  <a:alpha val="88000"/>
                </a:srgbClr>
              </a:gs>
              <a:gs pos="100000">
                <a:srgbClr val="0F1F2E">
                  <a:alpha val="60000"/>
                </a:srgbClr>
              </a:gs>
            </a:gsLst>
            <a:lin ang="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762000" y="1524000"/>
            <a:ext cx="5080000" cy="254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0" b="1" dirty="0">
                <a:solidFill>
                  <a:srgbClr val="FFFFFF">
                    <a:alpha val="6275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762000" y="3302000"/>
            <a:ext cx="18415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spc="300" kern="0" dirty="0">
                <a:solidFill>
                  <a:srgbClr val="C17F2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BÖLÜM 04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762000" y="3937000"/>
            <a:ext cx="1016000" cy="38100"/>
          </a:xfrm>
          <a:prstGeom prst="rect">
            <a:avLst/>
          </a:prstGeom>
          <a:solidFill>
            <a:srgbClr val="C17F24"/>
          </a:solidFill>
          <a:ln/>
        </p:spPr>
      </p:sp>
      <p:sp>
        <p:nvSpPr>
          <p:cNvPr id="7" name="Text 4"/>
          <p:cNvSpPr/>
          <p:nvPr/>
        </p:nvSpPr>
        <p:spPr>
          <a:xfrm>
            <a:off x="762000" y="4191000"/>
            <a:ext cx="1143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Arama Motorları ve Büyük Veri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62000" y="5080000"/>
            <a:ext cx="889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B-Tree Yapılarının Ölçeklenebilir Sistemlerdeki Rolü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762000" y="304800"/>
            <a:ext cx="1397000" cy="330200"/>
          </a:xfrm>
          <a:prstGeom prst="roundRect">
            <a:avLst>
              <a:gd name="adj" fmla="val 8000"/>
            </a:avLst>
          </a:prstGeom>
          <a:solidFill>
            <a:srgbClr val="1B3A4B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304800"/>
            <a:ext cx="1397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BÖLÜM 04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62000" y="787400"/>
            <a:ext cx="1143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000" b="1" dirty="0">
                <a:solidFill>
                  <a:srgbClr val="1B3A4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Arama Motorları ve Büyük Veri Sistemleri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762000" y="1397000"/>
            <a:ext cx="762000" cy="38100"/>
          </a:xfrm>
          <a:prstGeom prst="rect">
            <a:avLst/>
          </a:prstGeom>
          <a:solidFill>
            <a:srgbClr val="C17F24"/>
          </a:solidFill>
          <a:ln/>
        </p:spPr>
      </p:sp>
      <p:sp>
        <p:nvSpPr>
          <p:cNvPr id="7" name="Shape 5"/>
          <p:cNvSpPr/>
          <p:nvPr/>
        </p:nvSpPr>
        <p:spPr>
          <a:xfrm>
            <a:off x="762000" y="1651000"/>
            <a:ext cx="7175500" cy="3556000"/>
          </a:xfrm>
          <a:prstGeom prst="roundRect">
            <a:avLst>
              <a:gd name="adj" fmla="val 4000"/>
            </a:avLst>
          </a:prstGeom>
          <a:solidFill>
            <a:srgbClr val="E8ECEF"/>
          </a:solidFill>
          <a:ln/>
        </p:spPr>
      </p:sp>
      <p:sp>
        <p:nvSpPr>
          <p:cNvPr id="8" name="Shape 6"/>
          <p:cNvSpPr/>
          <p:nvPr/>
        </p:nvSpPr>
        <p:spPr>
          <a:xfrm>
            <a:off x="1016000" y="1841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288925" y="144463"/>
                </a:moveTo>
                <a:cubicBezTo>
                  <a:pt x="288925" y="176341"/>
                  <a:pt x="278576" y="205790"/>
                  <a:pt x="261144" y="229681"/>
                </a:cubicBezTo>
                <a:lnTo>
                  <a:pt x="349071" y="317679"/>
                </a:lnTo>
                <a:cubicBezTo>
                  <a:pt x="357753" y="326360"/>
                  <a:pt x="357753" y="340459"/>
                  <a:pt x="349071" y="349141"/>
                </a:cubicBezTo>
                <a:cubicBezTo>
                  <a:pt x="340390" y="357823"/>
                  <a:pt x="326291" y="357823"/>
                  <a:pt x="317609" y="349141"/>
                </a:cubicBezTo>
                <a:lnTo>
                  <a:pt x="229681" y="261144"/>
                </a:lnTo>
                <a:cubicBezTo>
                  <a:pt x="205790" y="278576"/>
                  <a:pt x="176341" y="288925"/>
                  <a:pt x="144463" y="288925"/>
                </a:cubicBezTo>
                <a:cubicBezTo>
                  <a:pt x="64661" y="288925"/>
                  <a:pt x="0" y="224264"/>
                  <a:pt x="0" y="144463"/>
                </a:cubicBezTo>
                <a:cubicBezTo>
                  <a:pt x="0" y="64661"/>
                  <a:pt x="64661" y="0"/>
                  <a:pt x="144463" y="0"/>
                </a:cubicBezTo>
                <a:cubicBezTo>
                  <a:pt x="224264" y="0"/>
                  <a:pt x="288925" y="64661"/>
                  <a:pt x="288925" y="144463"/>
                </a:cubicBezTo>
                <a:close/>
                <a:moveTo>
                  <a:pt x="144463" y="244475"/>
                </a:moveTo>
                <a:cubicBezTo>
                  <a:pt x="199661" y="244475"/>
                  <a:pt x="244475" y="199661"/>
                  <a:pt x="244475" y="144463"/>
                </a:cubicBezTo>
                <a:cubicBezTo>
                  <a:pt x="244475" y="89264"/>
                  <a:pt x="199661" y="44450"/>
                  <a:pt x="144463" y="44450"/>
                </a:cubicBezTo>
                <a:cubicBezTo>
                  <a:pt x="89264" y="44450"/>
                  <a:pt x="44450" y="89264"/>
                  <a:pt x="44450" y="144462"/>
                </a:cubicBezTo>
                <a:cubicBezTo>
                  <a:pt x="44450" y="199661"/>
                  <a:pt x="89264" y="244475"/>
                  <a:pt x="144462" y="244475"/>
                </a:cubicBezTo>
                <a:close/>
              </a:path>
            </a:pathLst>
          </a:custGeom>
          <a:solidFill>
            <a:srgbClr val="C17F24"/>
          </a:solidFill>
          <a:ln/>
        </p:spPr>
      </p:sp>
      <p:sp>
        <p:nvSpPr>
          <p:cNvPr id="9" name="Text 7"/>
          <p:cNvSpPr/>
          <p:nvPr/>
        </p:nvSpPr>
        <p:spPr>
          <a:xfrm>
            <a:off x="1498600" y="18415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1B3A4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Arama Motorları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16000" y="2349500"/>
            <a:ext cx="6667500" cy="266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lnSpc>
                <a:spcPct val="155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Web sayfalarının indekslenmesinde </a:t>
            </a:r>
            <a:pPr>
              <a:lnSpc>
                <a:spcPct val="155000"/>
              </a:lnSpc>
              <a:spcBef>
                <a:spcPts val="10"/>
              </a:spcBef>
            </a:pPr>
            <a:r>
              <a:rPr lang="en-US" sz="1600" b="1" dirty="0">
                <a:solidFill>
                  <a:srgbClr val="2C3E5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B+ Tree benzeri</a:t>
            </a:r>
            <a:pPr>
              <a:lnSpc>
                <a:spcPct val="155000"/>
              </a:lnSpc>
              <a:spcBef>
                <a:spcPts val="10"/>
              </a:spcBef>
            </a:pPr>
            <a:r>
              <a:rPr lang="en-US" sz="1600" dirty="0">
                <a:solidFill>
                  <a:srgbClr val="2C3E5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yapılar kullanılır</a:t>
            </a:r>
            <a:endParaRPr lang="en-US" sz="1800" dirty="0"/>
          </a:p>
          <a:p>
            <a:pPr marL="285750" indent="-285750">
              <a:lnSpc>
                <a:spcPct val="155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Sıralı erişim ve aralık sorguları için yaprak düğüm bağlantıları kritik</a:t>
            </a:r>
            <a:endParaRPr lang="en-US" sz="1800" dirty="0"/>
          </a:p>
          <a:p>
            <a:pPr marL="285750" indent="-285750">
              <a:lnSpc>
                <a:spcPct val="155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b="1" dirty="0">
                <a:solidFill>
                  <a:srgbClr val="2C3E5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Elasticsearch, Solr:</a:t>
            </a:r>
            <a:pPr>
              <a:lnSpc>
                <a:spcPct val="155000"/>
              </a:lnSpc>
              <a:spcBef>
                <a:spcPts val="10"/>
              </a:spcBef>
            </a:pPr>
            <a:r>
              <a:rPr lang="en-US" sz="1600" dirty="0">
                <a:solidFill>
                  <a:srgbClr val="2C3E5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Inverted index yapıları ile B+ Tree prensipleri</a:t>
            </a:r>
            <a:endParaRPr lang="en-US" sz="1800" dirty="0"/>
          </a:p>
          <a:p>
            <a:pPr marL="285750" indent="-285750">
              <a:lnSpc>
                <a:spcPct val="155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Anahtar kelime aramaları O(log n) performansında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8318500" y="1651000"/>
            <a:ext cx="7175500" cy="3556000"/>
          </a:xfrm>
          <a:prstGeom prst="roundRect">
            <a:avLst>
              <a:gd name="adj" fmla="val 4000"/>
            </a:avLst>
          </a:prstGeom>
          <a:solidFill>
            <a:srgbClr val="E8ECEF"/>
          </a:solidFill>
          <a:ln/>
        </p:spPr>
      </p:sp>
      <p:sp>
        <p:nvSpPr>
          <p:cNvPr id="12" name="Shape 10"/>
          <p:cNvSpPr/>
          <p:nvPr/>
        </p:nvSpPr>
        <p:spPr>
          <a:xfrm>
            <a:off x="8594725" y="1841500"/>
            <a:ext cx="311150" cy="355600"/>
          </a:xfrm>
          <a:custGeom>
            <a:avLst/>
            <a:gdLst/>
            <a:ahLst/>
            <a:cxnLst/>
            <a:rect l="l" t="t" r="r" b="b"/>
            <a:pathLst>
              <a:path w="311150" h="355600">
                <a:moveTo>
                  <a:pt x="311150" y="142935"/>
                </a:moveTo>
                <a:cubicBezTo>
                  <a:pt x="300871" y="149741"/>
                  <a:pt x="289064" y="155228"/>
                  <a:pt x="276771" y="159603"/>
                </a:cubicBezTo>
                <a:cubicBezTo>
                  <a:pt x="244128" y="171271"/>
                  <a:pt x="201275" y="177800"/>
                  <a:pt x="155575" y="177800"/>
                </a:cubicBezTo>
                <a:cubicBezTo>
                  <a:pt x="109875" y="177800"/>
                  <a:pt x="66953" y="171202"/>
                  <a:pt x="34379" y="159603"/>
                </a:cubicBezTo>
                <a:cubicBezTo>
                  <a:pt x="22156" y="155228"/>
                  <a:pt x="10279" y="149741"/>
                  <a:pt x="0" y="142935"/>
                </a:cubicBezTo>
                <a:lnTo>
                  <a:pt x="0" y="200025"/>
                </a:lnTo>
                <a:cubicBezTo>
                  <a:pt x="0" y="230723"/>
                  <a:pt x="69661" y="255587"/>
                  <a:pt x="155575" y="255587"/>
                </a:cubicBezTo>
                <a:cubicBezTo>
                  <a:pt x="241489" y="255587"/>
                  <a:pt x="311150" y="230723"/>
                  <a:pt x="311150" y="200025"/>
                </a:cubicBezTo>
                <a:lnTo>
                  <a:pt x="311150" y="142935"/>
                </a:lnTo>
                <a:close/>
                <a:moveTo>
                  <a:pt x="311150" y="88900"/>
                </a:moveTo>
                <a:lnTo>
                  <a:pt x="311150" y="55563"/>
                </a:lnTo>
                <a:cubicBezTo>
                  <a:pt x="311150" y="24864"/>
                  <a:pt x="241489" y="0"/>
                  <a:pt x="155575" y="0"/>
                </a:cubicBezTo>
                <a:cubicBezTo>
                  <a:pt x="69661" y="0"/>
                  <a:pt x="0" y="24864"/>
                  <a:pt x="0" y="55563"/>
                </a:cubicBezTo>
                <a:lnTo>
                  <a:pt x="0" y="88900"/>
                </a:lnTo>
                <a:cubicBezTo>
                  <a:pt x="0" y="119598"/>
                  <a:pt x="69661" y="144463"/>
                  <a:pt x="155575" y="144463"/>
                </a:cubicBezTo>
                <a:cubicBezTo>
                  <a:pt x="241489" y="144463"/>
                  <a:pt x="311150" y="119598"/>
                  <a:pt x="311150" y="88900"/>
                </a:cubicBezTo>
                <a:close/>
                <a:moveTo>
                  <a:pt x="276771" y="270728"/>
                </a:moveTo>
                <a:cubicBezTo>
                  <a:pt x="244197" y="282327"/>
                  <a:pt x="201345" y="288925"/>
                  <a:pt x="155575" y="288925"/>
                </a:cubicBezTo>
                <a:cubicBezTo>
                  <a:pt x="109805" y="288925"/>
                  <a:pt x="66953" y="282327"/>
                  <a:pt x="34379" y="270728"/>
                </a:cubicBezTo>
                <a:cubicBezTo>
                  <a:pt x="22156" y="266353"/>
                  <a:pt x="10279" y="260866"/>
                  <a:pt x="0" y="254060"/>
                </a:cubicBezTo>
                <a:lnTo>
                  <a:pt x="0" y="300038"/>
                </a:lnTo>
                <a:cubicBezTo>
                  <a:pt x="0" y="330736"/>
                  <a:pt x="69661" y="355600"/>
                  <a:pt x="155575" y="355600"/>
                </a:cubicBezTo>
                <a:cubicBezTo>
                  <a:pt x="241489" y="355600"/>
                  <a:pt x="311150" y="330736"/>
                  <a:pt x="311150" y="300038"/>
                </a:cubicBezTo>
                <a:lnTo>
                  <a:pt x="311150" y="254060"/>
                </a:lnTo>
                <a:cubicBezTo>
                  <a:pt x="300871" y="260866"/>
                  <a:pt x="289064" y="266353"/>
                  <a:pt x="276771" y="270728"/>
                </a:cubicBezTo>
                <a:close/>
              </a:path>
            </a:pathLst>
          </a:custGeom>
          <a:solidFill>
            <a:srgbClr val="C17F24"/>
          </a:solidFill>
          <a:ln/>
        </p:spPr>
      </p:sp>
      <p:sp>
        <p:nvSpPr>
          <p:cNvPr id="13" name="Text 11"/>
          <p:cNvSpPr/>
          <p:nvPr/>
        </p:nvSpPr>
        <p:spPr>
          <a:xfrm>
            <a:off x="9055100" y="18415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1B3A4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Büyük Veri Sistemleri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572500" y="2349500"/>
            <a:ext cx="6667500" cy="266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lnSpc>
                <a:spcPct val="155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b="1" dirty="0">
                <a:solidFill>
                  <a:srgbClr val="2C3E5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Google Bigtable, Apache HBase:</a:t>
            </a:r>
            <a:pPr>
              <a:lnSpc>
                <a:spcPct val="155000"/>
              </a:lnSpc>
              <a:spcBef>
                <a:spcPts val="10"/>
              </a:spcBef>
            </a:pPr>
            <a:r>
              <a:rPr lang="en-US" sz="1600" dirty="0">
                <a:solidFill>
                  <a:srgbClr val="2C3E5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LSM-Tree kullanır (B+ Tree alternatifi)</a:t>
            </a:r>
            <a:endParaRPr lang="en-US" sz="1800" dirty="0"/>
          </a:p>
          <a:p>
            <a:pPr marL="285750" indent="-285750">
              <a:lnSpc>
                <a:spcPct val="155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Metadata yönetimi ve küçük veri kümelerinde </a:t>
            </a:r>
            <a:pPr>
              <a:lnSpc>
                <a:spcPct val="155000"/>
              </a:lnSpc>
              <a:spcBef>
                <a:spcPts val="10"/>
              </a:spcBef>
            </a:pPr>
            <a:r>
              <a:rPr lang="en-US" sz="1600" b="1" dirty="0">
                <a:solidFill>
                  <a:srgbClr val="2C3E5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B+ Tree</a:t>
            </a:r>
            <a:pPr>
              <a:lnSpc>
                <a:spcPct val="155000"/>
              </a:lnSpc>
              <a:spcBef>
                <a:spcPts val="10"/>
              </a:spcBef>
            </a:pPr>
            <a:r>
              <a:rPr lang="en-US" sz="1600" dirty="0">
                <a:solidFill>
                  <a:srgbClr val="2C3E5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hâlâ tercih edilir</a:t>
            </a:r>
            <a:endParaRPr lang="en-US" sz="1800" dirty="0"/>
          </a:p>
          <a:p>
            <a:pPr marL="285750" indent="-285750">
              <a:lnSpc>
                <a:spcPct val="155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B-Tree'nin </a:t>
            </a:r>
            <a:pPr>
              <a:lnSpc>
                <a:spcPct val="155000"/>
              </a:lnSpc>
              <a:spcBef>
                <a:spcPts val="10"/>
              </a:spcBef>
            </a:pPr>
            <a:r>
              <a:rPr lang="en-US" sz="1600" b="1" dirty="0">
                <a:solidFill>
                  <a:srgbClr val="2C3E5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denge yapısı</a:t>
            </a:r>
            <a:pPr>
              <a:lnSpc>
                <a:spcPct val="155000"/>
              </a:lnSpc>
              <a:spcBef>
                <a:spcPts val="10"/>
              </a:spcBef>
            </a:pPr>
            <a:r>
              <a:rPr lang="en-US" sz="1600" dirty="0">
                <a:solidFill>
                  <a:srgbClr val="2C3E5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tutarlı performans garantisi sunar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762000" y="5461000"/>
            <a:ext cx="14732000" cy="1905000"/>
          </a:xfrm>
          <a:prstGeom prst="roundRect">
            <a:avLst>
              <a:gd name="adj" fmla="val 3000"/>
            </a:avLst>
          </a:prstGeom>
          <a:solidFill>
            <a:srgbClr val="1B3A4B"/>
          </a:solidFill>
          <a:ln/>
        </p:spPr>
      </p:sp>
      <p:sp>
        <p:nvSpPr>
          <p:cNvPr id="16" name="Text 14"/>
          <p:cNvSpPr/>
          <p:nvPr/>
        </p:nvSpPr>
        <p:spPr>
          <a:xfrm>
            <a:off x="1016000" y="5588000"/>
            <a:ext cx="635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700" b="1" dirty="0">
                <a:solidFill>
                  <a:srgbClr val="C17F2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LSM-Tree (Log-Structured Merge-Tree) — Alternatif Yaklaşım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16000" y="5994400"/>
            <a:ext cx="14224000" cy="120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5000"/>
              </a:lnSpc>
            </a:pPr>
            <a:r>
              <a:rPr lang="en-US" sz="15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LSM-Tree, yazma-odaklı iş yüklerinde B+ Tree'ye alternatif olarak geliştirilmiştir. Veriler önce belleğe (memtable) yazılır, sonra sıralı disk bloklarına (SSTable) birleştirilir. B+ Tree ise </a:t>
            </a:r>
            <a:pPr>
              <a:lnSpc>
                <a:spcPct val="155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okuma-odaklı ve karma iş yüklerinde</a:t>
            </a:r>
            <a:pPr>
              <a:lnSpc>
                <a:spcPct val="155000"/>
              </a:lnSpc>
            </a:pPr>
            <a:r>
              <a:rPr lang="en-US" sz="15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üstün performans sunar. Her iki yapı da modern veri sistemlerinde birlikte kullanılır.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62000" y="7620000"/>
            <a:ext cx="14732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C17F2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Sonuç: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C3E5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B+ Tree, tutarlı okuma/yazma performansı ve deterministik O(log n) karmaşıklığı ile büyük veri ekosisteminin vazgeçilmez bir parçasıdır.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13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5ahipnw5rghok/mnt/agents/output/btree-usage/images/2_Blue_network_data_structures_abstract.png">    </p:cNvPr>
          <p:cNvPicPr>
            <a:picLocks noChangeAspect="1"/>
          </p:cNvPicPr>
          <p:nvPr/>
        </p:nvPicPr>
        <p:blipFill>
          <a:blip r:embed="rId1"/>
          <a:srcRect l="18" r="18" t="0" b="0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0F1F2E">
                  <a:alpha val="95000"/>
                </a:srgbClr>
              </a:gs>
              <a:gs pos="60000">
                <a:srgbClr val="0F1F2E">
                  <a:alpha val="88000"/>
                </a:srgbClr>
              </a:gs>
              <a:gs pos="100000">
                <a:srgbClr val="0F1F2E">
                  <a:alpha val="60000"/>
                </a:srgbClr>
              </a:gs>
            </a:gsLst>
            <a:lin ang="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762000" y="1524000"/>
            <a:ext cx="5080000" cy="254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0" b="1" dirty="0">
                <a:solidFill>
                  <a:srgbClr val="FFFFFF">
                    <a:alpha val="6275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05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762000" y="3302000"/>
            <a:ext cx="18415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spc="300" kern="0" dirty="0">
                <a:solidFill>
                  <a:srgbClr val="C17F2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BÖLÜM 05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762000" y="3937000"/>
            <a:ext cx="1016000" cy="38100"/>
          </a:xfrm>
          <a:prstGeom prst="rect">
            <a:avLst/>
          </a:prstGeom>
          <a:solidFill>
            <a:srgbClr val="C17F24"/>
          </a:solidFill>
          <a:ln/>
        </p:spPr>
      </p:sp>
      <p:sp>
        <p:nvSpPr>
          <p:cNvPr id="7" name="Text 4"/>
          <p:cNvSpPr/>
          <p:nvPr/>
        </p:nvSpPr>
        <p:spPr>
          <a:xfrm>
            <a:off x="762000" y="4191000"/>
            <a:ext cx="1143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Neden Modern Sistemlerde Tercih Edilir?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62000" y="5080000"/>
            <a:ext cx="889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B+ Tree'nin Teknik Üstünlükleri ve Pratik Avantajları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762000" y="304800"/>
            <a:ext cx="1397000" cy="330200"/>
          </a:xfrm>
          <a:prstGeom prst="roundRect">
            <a:avLst>
              <a:gd name="adj" fmla="val 8000"/>
            </a:avLst>
          </a:prstGeom>
          <a:solidFill>
            <a:srgbClr val="1B3A4B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304800"/>
            <a:ext cx="1397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BÖLÜM 05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62000" y="787400"/>
            <a:ext cx="1143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000" b="1" dirty="0">
                <a:solidFill>
                  <a:srgbClr val="1B3A4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Neden B+ Tree Modern Sistemlerde Hakimdir?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762000" y="1397000"/>
            <a:ext cx="762000" cy="38100"/>
          </a:xfrm>
          <a:prstGeom prst="rect">
            <a:avLst/>
          </a:prstGeom>
          <a:solidFill>
            <a:srgbClr val="C17F24"/>
          </a:solidFill>
          <a:ln/>
        </p:spPr>
      </p:sp>
      <p:sp>
        <p:nvSpPr>
          <p:cNvPr id="7" name="Shape 5"/>
          <p:cNvSpPr/>
          <p:nvPr/>
        </p:nvSpPr>
        <p:spPr>
          <a:xfrm>
            <a:off x="762000" y="1714500"/>
            <a:ext cx="457200" cy="457200"/>
          </a:xfrm>
          <a:prstGeom prst="ellipse">
            <a:avLst/>
          </a:prstGeom>
          <a:solidFill>
            <a:srgbClr val="C17F24"/>
          </a:solidFill>
          <a:ln/>
        </p:spPr>
      </p:sp>
      <p:sp>
        <p:nvSpPr>
          <p:cNvPr id="8" name="Text 6"/>
          <p:cNvSpPr/>
          <p:nvPr/>
        </p:nvSpPr>
        <p:spPr>
          <a:xfrm>
            <a:off x="762000" y="1714500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97000" y="17145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B3A4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Disk I/O Optimizasyonu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97000" y="2095500"/>
            <a:ext cx="6477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Her düğüm bir disk sayfasına karşılık gelir, ağaç yüksekliği minimize edilir.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62000" y="2857500"/>
            <a:ext cx="457200" cy="457200"/>
          </a:xfrm>
          <a:prstGeom prst="ellipse">
            <a:avLst/>
          </a:prstGeom>
          <a:solidFill>
            <a:srgbClr val="C17F24"/>
          </a:solidFill>
          <a:ln/>
        </p:spPr>
      </p:sp>
      <p:sp>
        <p:nvSpPr>
          <p:cNvPr id="12" name="Text 10"/>
          <p:cNvSpPr/>
          <p:nvPr/>
        </p:nvSpPr>
        <p:spPr>
          <a:xfrm>
            <a:off x="762000" y="2857500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397000" y="2857500"/>
            <a:ext cx="4445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B3A4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Aralık Sorgu Performansı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397000" y="3238500"/>
            <a:ext cx="6477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Bağlı yaprak düğümler sayesinde sıralı erişim çok hızlıdır.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62000" y="4000500"/>
            <a:ext cx="457200" cy="457200"/>
          </a:xfrm>
          <a:prstGeom prst="ellipse">
            <a:avLst/>
          </a:prstGeom>
          <a:solidFill>
            <a:srgbClr val="C17F24"/>
          </a:solidFill>
          <a:ln/>
        </p:spPr>
      </p:sp>
      <p:sp>
        <p:nvSpPr>
          <p:cNvPr id="16" name="Text 14"/>
          <p:cNvSpPr/>
          <p:nvPr/>
        </p:nvSpPr>
        <p:spPr>
          <a:xfrm>
            <a:off x="762000" y="4000500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397000" y="40005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B3A4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Dengeli Yapı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397000" y="4381500"/>
            <a:ext cx="6477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Tüm yapraklar aynı seviyede, tutarlı arama süresi garantisi.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382000" y="1714500"/>
            <a:ext cx="457200" cy="457200"/>
          </a:xfrm>
          <a:prstGeom prst="ellipse">
            <a:avLst/>
          </a:prstGeom>
          <a:solidFill>
            <a:srgbClr val="C17F24"/>
          </a:solidFill>
          <a:ln/>
        </p:spPr>
      </p:sp>
      <p:sp>
        <p:nvSpPr>
          <p:cNvPr id="20" name="Text 18"/>
          <p:cNvSpPr/>
          <p:nvPr/>
        </p:nvSpPr>
        <p:spPr>
          <a:xfrm>
            <a:off x="8382000" y="1714500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017000" y="17145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B3A4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Bellek Verimliliği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017000" y="2095500"/>
            <a:ext cx="6477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İç düğümler sadece anahtar içerir, daha fazla anahtar sığar.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8382000" y="2857500"/>
            <a:ext cx="457200" cy="457200"/>
          </a:xfrm>
          <a:prstGeom prst="ellipse">
            <a:avLst/>
          </a:prstGeom>
          <a:solidFill>
            <a:srgbClr val="C17F24"/>
          </a:solidFill>
          <a:ln/>
        </p:spPr>
      </p:sp>
      <p:sp>
        <p:nvSpPr>
          <p:cNvPr id="24" name="Text 22"/>
          <p:cNvSpPr/>
          <p:nvPr/>
        </p:nvSpPr>
        <p:spPr>
          <a:xfrm>
            <a:off x="8382000" y="2857500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017000" y="28575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B3A4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Ölçeklenebilirlik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9017000" y="3238500"/>
            <a:ext cx="6477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Veri büyüdükçe performans logaritmik olarak değişir.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8382000" y="4000500"/>
            <a:ext cx="457200" cy="457200"/>
          </a:xfrm>
          <a:prstGeom prst="ellipse">
            <a:avLst/>
          </a:prstGeom>
          <a:solidFill>
            <a:srgbClr val="C17F24"/>
          </a:solidFill>
          <a:ln/>
        </p:spPr>
      </p:sp>
      <p:sp>
        <p:nvSpPr>
          <p:cNvPr id="28" name="Text 26"/>
          <p:cNvSpPr/>
          <p:nvPr/>
        </p:nvSpPr>
        <p:spPr>
          <a:xfrm>
            <a:off x="8382000" y="4000500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9017000" y="4000500"/>
            <a:ext cx="4445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B3A4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Çoklu İşlem Desteği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9017000" y="4381500"/>
            <a:ext cx="6477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Eşzamanlı okuma/yazma işlemleri güvenli şekilde yönetilir.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762000" y="5334000"/>
            <a:ext cx="14732000" cy="1460500"/>
          </a:xfrm>
          <a:prstGeom prst="roundRect">
            <a:avLst>
              <a:gd name="adj" fmla="val 3000"/>
            </a:avLst>
          </a:prstGeom>
          <a:solidFill>
            <a:srgbClr val="1B3A4B"/>
          </a:solidFill>
          <a:ln/>
        </p:spPr>
      </p:sp>
      <p:sp>
        <p:nvSpPr>
          <p:cNvPr id="32" name="Text 30"/>
          <p:cNvSpPr/>
          <p:nvPr/>
        </p:nvSpPr>
        <p:spPr>
          <a:xfrm>
            <a:off x="1016000" y="5461000"/>
            <a:ext cx="14224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700" i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"Bir B+ Tree'de üst yarısının tamamı (kök + iç düğümler) genellikle belleğe sığar. Bu, disk erişimini minimize ederek arama performansını dramatik şekilde artırır."</a:t>
            </a:r>
            <a:endParaRPr lang="en-US" sz="1600" dirty="0"/>
          </a:p>
          <a:p>
            <a:pPr algn="r">
              <a:lnSpc>
                <a:spcPct val="160000"/>
              </a:lnSpc>
            </a:pPr>
            <a:r>
              <a:rPr lang="en-US" sz="1400" dirty="0">
                <a:solidFill>
                  <a:srgbClr val="C17F2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— PlanetScale, 2024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762000" y="6921500"/>
            <a:ext cx="889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Kaynak: </a:t>
            </a:r>
            <a:pPr>
              <a:lnSpc>
                <a:spcPct val="140000"/>
              </a:lnSpc>
            </a:pPr>
            <a:r>
              <a:rPr lang="en-US" sz="1300" u="sng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  <a:hlinkClick r:id="rId1" tooltip="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PlanetScale — B-trees and Database Indexes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15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5ahipnw5rghok/mnt/agents/output/btree-usage/images/1_Binary_Tree_Images_Browse_7_552_Stock.png">    </p:cNvPr>
          <p:cNvPicPr>
            <a:picLocks noChangeAspect="1"/>
          </p:cNvPicPr>
          <p:nvPr/>
        </p:nvPicPr>
        <p:blipFill>
          <a:blip r:embed="rId1"/>
          <a:srcRect l="0" r="0" t="78" b="78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0F1F2E">
                  <a:alpha val="95000"/>
                </a:srgbClr>
              </a:gs>
              <a:gs pos="60000">
                <a:srgbClr val="0F1F2E">
                  <a:alpha val="88000"/>
                </a:srgbClr>
              </a:gs>
              <a:gs pos="100000">
                <a:srgbClr val="0F1F2E">
                  <a:alpha val="60000"/>
                </a:srgbClr>
              </a:gs>
            </a:gsLst>
            <a:lin ang="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762000" y="1524000"/>
            <a:ext cx="5080000" cy="254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0" b="1" dirty="0">
                <a:solidFill>
                  <a:srgbClr val="FFFFFF">
                    <a:alpha val="6275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06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762000" y="3302000"/>
            <a:ext cx="18415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spc="300" kern="0" dirty="0">
                <a:solidFill>
                  <a:srgbClr val="C17F2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BÖLÜM 06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762000" y="3937000"/>
            <a:ext cx="1016000" cy="38100"/>
          </a:xfrm>
          <a:prstGeom prst="rect">
            <a:avLst/>
          </a:prstGeom>
          <a:solidFill>
            <a:srgbClr val="C17F24"/>
          </a:solidFill>
          <a:ln/>
        </p:spPr>
      </p:sp>
      <p:sp>
        <p:nvSpPr>
          <p:cNvPr id="7" name="Text 4"/>
          <p:cNvSpPr/>
          <p:nvPr/>
        </p:nvSpPr>
        <p:spPr>
          <a:xfrm>
            <a:off x="762000" y="4191000"/>
            <a:ext cx="1143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Günlük Hayattan Benzetmeler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62000" y="5080000"/>
            <a:ext cx="889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B-Tree ve B+ Tree Yapılarının Somut Örneklerle Açıklanması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762000" y="304800"/>
            <a:ext cx="1397000" cy="330200"/>
          </a:xfrm>
          <a:prstGeom prst="roundRect">
            <a:avLst>
              <a:gd name="adj" fmla="val 8000"/>
            </a:avLst>
          </a:prstGeom>
          <a:solidFill>
            <a:srgbClr val="1B3A4B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304800"/>
            <a:ext cx="1397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BÖLÜM 06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62000" y="787400"/>
            <a:ext cx="1143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000" b="1" dirty="0">
                <a:solidFill>
                  <a:srgbClr val="1B3A4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Kütüphane ve Telefon Rehberi Benzetmesi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762000" y="1397000"/>
            <a:ext cx="762000" cy="38100"/>
          </a:xfrm>
          <a:prstGeom prst="rect">
            <a:avLst/>
          </a:prstGeom>
          <a:solidFill>
            <a:srgbClr val="C17F24"/>
          </a:solidFill>
          <a:ln/>
        </p:spPr>
      </p:sp>
      <p:sp>
        <p:nvSpPr>
          <p:cNvPr id="7" name="Shape 5"/>
          <p:cNvSpPr/>
          <p:nvPr/>
        </p:nvSpPr>
        <p:spPr>
          <a:xfrm>
            <a:off x="762000" y="1651000"/>
            <a:ext cx="7175500" cy="5334000"/>
          </a:xfrm>
          <a:prstGeom prst="roundRect">
            <a:avLst>
              <a:gd name="adj" fmla="val 4000"/>
            </a:avLst>
          </a:prstGeom>
          <a:solidFill>
            <a:srgbClr val="E8ECEF"/>
          </a:solidFill>
          <a:ln/>
        </p:spPr>
      </p:sp>
      <p:sp>
        <p:nvSpPr>
          <p:cNvPr id="8" name="Shape 6"/>
          <p:cNvSpPr/>
          <p:nvPr/>
        </p:nvSpPr>
        <p:spPr>
          <a:xfrm>
            <a:off x="1038225" y="1879600"/>
            <a:ext cx="311150" cy="355600"/>
          </a:xfrm>
          <a:custGeom>
            <a:avLst/>
            <a:gdLst/>
            <a:ahLst/>
            <a:cxnLst/>
            <a:rect l="l" t="t" r="r" b="b"/>
            <a:pathLst>
              <a:path w="311150" h="355600">
                <a:moveTo>
                  <a:pt x="266700" y="355600"/>
                </a:moveTo>
                <a:lnTo>
                  <a:pt x="66675" y="355600"/>
                </a:lnTo>
                <a:cubicBezTo>
                  <a:pt x="29865" y="355600"/>
                  <a:pt x="0" y="325735"/>
                  <a:pt x="0" y="288925"/>
                </a:cubicBezTo>
                <a:lnTo>
                  <a:pt x="0" y="66675"/>
                </a:lnTo>
                <a:cubicBezTo>
                  <a:pt x="0" y="29865"/>
                  <a:pt x="29865" y="0"/>
                  <a:pt x="66675" y="0"/>
                </a:cubicBezTo>
                <a:lnTo>
                  <a:pt x="277813" y="0"/>
                </a:lnTo>
                <a:cubicBezTo>
                  <a:pt x="296218" y="0"/>
                  <a:pt x="311150" y="14932"/>
                  <a:pt x="311150" y="33337"/>
                </a:cubicBezTo>
                <a:lnTo>
                  <a:pt x="311150" y="233363"/>
                </a:lnTo>
                <a:cubicBezTo>
                  <a:pt x="311150" y="247878"/>
                  <a:pt x="301843" y="260241"/>
                  <a:pt x="288925" y="264825"/>
                </a:cubicBezTo>
                <a:lnTo>
                  <a:pt x="288925" y="311150"/>
                </a:lnTo>
                <a:cubicBezTo>
                  <a:pt x="301218" y="311150"/>
                  <a:pt x="311150" y="321082"/>
                  <a:pt x="311150" y="333375"/>
                </a:cubicBezTo>
                <a:cubicBezTo>
                  <a:pt x="311150" y="345668"/>
                  <a:pt x="301218" y="355600"/>
                  <a:pt x="288925" y="355600"/>
                </a:cubicBezTo>
                <a:lnTo>
                  <a:pt x="266700" y="355600"/>
                </a:lnTo>
                <a:close/>
                <a:moveTo>
                  <a:pt x="66675" y="266700"/>
                </a:moveTo>
                <a:cubicBezTo>
                  <a:pt x="54382" y="266700"/>
                  <a:pt x="44450" y="276632"/>
                  <a:pt x="44450" y="288925"/>
                </a:cubicBezTo>
                <a:cubicBezTo>
                  <a:pt x="44450" y="301218"/>
                  <a:pt x="54382" y="311150"/>
                  <a:pt x="66675" y="311150"/>
                </a:cubicBezTo>
                <a:lnTo>
                  <a:pt x="244475" y="311150"/>
                </a:lnTo>
                <a:lnTo>
                  <a:pt x="244475" y="266700"/>
                </a:lnTo>
                <a:lnTo>
                  <a:pt x="66675" y="266700"/>
                </a:lnTo>
                <a:close/>
                <a:moveTo>
                  <a:pt x="88900" y="105569"/>
                </a:moveTo>
                <a:cubicBezTo>
                  <a:pt x="88900" y="114806"/>
                  <a:pt x="96331" y="122238"/>
                  <a:pt x="105569" y="122238"/>
                </a:cubicBezTo>
                <a:lnTo>
                  <a:pt x="227806" y="122238"/>
                </a:lnTo>
                <a:cubicBezTo>
                  <a:pt x="237044" y="122238"/>
                  <a:pt x="244475" y="114806"/>
                  <a:pt x="244475" y="105569"/>
                </a:cubicBezTo>
                <a:cubicBezTo>
                  <a:pt x="244475" y="96331"/>
                  <a:pt x="237044" y="88900"/>
                  <a:pt x="227806" y="88900"/>
                </a:cubicBezTo>
                <a:lnTo>
                  <a:pt x="105569" y="88900"/>
                </a:lnTo>
                <a:cubicBezTo>
                  <a:pt x="96331" y="88900"/>
                  <a:pt x="88900" y="96331"/>
                  <a:pt x="88900" y="105569"/>
                </a:cubicBezTo>
                <a:close/>
                <a:moveTo>
                  <a:pt x="105569" y="155575"/>
                </a:moveTo>
                <a:cubicBezTo>
                  <a:pt x="96331" y="155575"/>
                  <a:pt x="88900" y="163006"/>
                  <a:pt x="88900" y="172244"/>
                </a:cubicBezTo>
                <a:cubicBezTo>
                  <a:pt x="88900" y="181481"/>
                  <a:pt x="96331" y="188913"/>
                  <a:pt x="105569" y="188913"/>
                </a:cubicBezTo>
                <a:lnTo>
                  <a:pt x="227806" y="188913"/>
                </a:lnTo>
                <a:cubicBezTo>
                  <a:pt x="237044" y="188913"/>
                  <a:pt x="244475" y="181481"/>
                  <a:pt x="244475" y="172244"/>
                </a:cubicBezTo>
                <a:cubicBezTo>
                  <a:pt x="244475" y="163006"/>
                  <a:pt x="237044" y="155575"/>
                  <a:pt x="227806" y="155575"/>
                </a:cubicBezTo>
                <a:lnTo>
                  <a:pt x="105569" y="155575"/>
                </a:lnTo>
                <a:close/>
              </a:path>
            </a:pathLst>
          </a:custGeom>
          <a:solidFill>
            <a:srgbClr val="C17F24"/>
          </a:solidFill>
          <a:ln/>
        </p:spPr>
      </p:sp>
      <p:sp>
        <p:nvSpPr>
          <p:cNvPr id="9" name="Text 7"/>
          <p:cNvSpPr/>
          <p:nvPr/>
        </p:nvSpPr>
        <p:spPr>
          <a:xfrm>
            <a:off x="1498600" y="1841500"/>
            <a:ext cx="508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1B3A4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Kütüphane Sistemi = B+ Tree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16000" y="2413000"/>
            <a:ext cx="6667500" cy="431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C17F2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Kök Düğüm (Giriş Rehberi):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2C3E5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"A-F bu koridorda, G-L şu koridorda, M-Z diğer koridorda"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600" b="1" dirty="0">
                <a:solidFill>
                  <a:srgbClr val="C17F2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İç Düğümler (Bölüm Rehberleri):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2C3E5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"A-C bu rafta, D-F şu rafta" — sadece yönlendirme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600" b="1" dirty="0">
                <a:solidFill>
                  <a:srgbClr val="C17F2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Yaprak Düğümler (Raflar):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2C3E5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Kitaplar sıralı durur ve her raftın yanında bir sonraki rafa işaret eden ok vardır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600" b="1" dirty="0">
                <a:solidFill>
                  <a:srgbClr val="C17F2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Aralık Sorgusu: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2C3E5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"A ile C arasındaki kitaplar" → Bir raftan diğerine geçiş kolaydır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8318500" y="1651000"/>
            <a:ext cx="7175500" cy="5334000"/>
          </a:xfrm>
          <a:prstGeom prst="roundRect">
            <a:avLst>
              <a:gd name="adj" fmla="val 4000"/>
            </a:avLst>
          </a:prstGeom>
          <a:solidFill>
            <a:srgbClr val="E8ECEF"/>
          </a:solidFill>
          <a:ln/>
        </p:spPr>
      </p:sp>
      <p:sp>
        <p:nvSpPr>
          <p:cNvPr id="12" name="Shape 10"/>
          <p:cNvSpPr/>
          <p:nvPr/>
        </p:nvSpPr>
        <p:spPr>
          <a:xfrm>
            <a:off x="8572500" y="18796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66675" y="0"/>
                </a:moveTo>
                <a:cubicBezTo>
                  <a:pt x="42158" y="0"/>
                  <a:pt x="22225" y="19933"/>
                  <a:pt x="22225" y="44450"/>
                </a:cubicBezTo>
                <a:lnTo>
                  <a:pt x="22225" y="311150"/>
                </a:lnTo>
                <a:cubicBezTo>
                  <a:pt x="22225" y="335667"/>
                  <a:pt x="42158" y="355600"/>
                  <a:pt x="66675" y="355600"/>
                </a:cubicBezTo>
                <a:lnTo>
                  <a:pt x="266700" y="355600"/>
                </a:lnTo>
                <a:cubicBezTo>
                  <a:pt x="291217" y="355600"/>
                  <a:pt x="311150" y="335667"/>
                  <a:pt x="311150" y="311150"/>
                </a:cubicBezTo>
                <a:lnTo>
                  <a:pt x="311150" y="44450"/>
                </a:lnTo>
                <a:cubicBezTo>
                  <a:pt x="311150" y="19933"/>
                  <a:pt x="291217" y="0"/>
                  <a:pt x="266700" y="0"/>
                </a:cubicBezTo>
                <a:lnTo>
                  <a:pt x="66675" y="0"/>
                </a:lnTo>
                <a:close/>
                <a:moveTo>
                  <a:pt x="144463" y="200025"/>
                </a:moveTo>
                <a:lnTo>
                  <a:pt x="188913" y="200025"/>
                </a:lnTo>
                <a:cubicBezTo>
                  <a:pt x="219611" y="200025"/>
                  <a:pt x="244475" y="224889"/>
                  <a:pt x="244475" y="255587"/>
                </a:cubicBezTo>
                <a:cubicBezTo>
                  <a:pt x="244475" y="261699"/>
                  <a:pt x="239474" y="266700"/>
                  <a:pt x="233363" y="266700"/>
                </a:cubicBezTo>
                <a:lnTo>
                  <a:pt x="100013" y="266700"/>
                </a:lnTo>
                <a:cubicBezTo>
                  <a:pt x="93901" y="266700"/>
                  <a:pt x="88900" y="261699"/>
                  <a:pt x="88900" y="255587"/>
                </a:cubicBezTo>
                <a:cubicBezTo>
                  <a:pt x="88900" y="224889"/>
                  <a:pt x="113764" y="200025"/>
                  <a:pt x="144463" y="200025"/>
                </a:cubicBezTo>
                <a:close/>
                <a:moveTo>
                  <a:pt x="127794" y="133350"/>
                </a:moveTo>
                <a:cubicBezTo>
                  <a:pt x="127794" y="111884"/>
                  <a:pt x="145221" y="94456"/>
                  <a:pt x="166688" y="94456"/>
                </a:cubicBezTo>
                <a:cubicBezTo>
                  <a:pt x="188154" y="94456"/>
                  <a:pt x="205581" y="111884"/>
                  <a:pt x="205581" y="133350"/>
                </a:cubicBezTo>
                <a:cubicBezTo>
                  <a:pt x="205581" y="154816"/>
                  <a:pt x="188154" y="172244"/>
                  <a:pt x="166688" y="172244"/>
                </a:cubicBezTo>
                <a:cubicBezTo>
                  <a:pt x="145221" y="172244"/>
                  <a:pt x="127794" y="154816"/>
                  <a:pt x="127794" y="133350"/>
                </a:cubicBezTo>
                <a:close/>
                <a:moveTo>
                  <a:pt x="355600" y="55563"/>
                </a:moveTo>
                <a:cubicBezTo>
                  <a:pt x="355600" y="49451"/>
                  <a:pt x="350599" y="44450"/>
                  <a:pt x="344488" y="44450"/>
                </a:cubicBezTo>
                <a:cubicBezTo>
                  <a:pt x="338376" y="44450"/>
                  <a:pt x="333375" y="49451"/>
                  <a:pt x="333375" y="55563"/>
                </a:cubicBezTo>
                <a:lnTo>
                  <a:pt x="333375" y="100013"/>
                </a:lnTo>
                <a:cubicBezTo>
                  <a:pt x="333375" y="106124"/>
                  <a:pt x="338376" y="111125"/>
                  <a:pt x="344488" y="111125"/>
                </a:cubicBezTo>
                <a:cubicBezTo>
                  <a:pt x="350599" y="111125"/>
                  <a:pt x="355600" y="106124"/>
                  <a:pt x="355600" y="100013"/>
                </a:cubicBezTo>
                <a:lnTo>
                  <a:pt x="355600" y="55563"/>
                </a:lnTo>
                <a:close/>
                <a:moveTo>
                  <a:pt x="355600" y="144463"/>
                </a:moveTo>
                <a:cubicBezTo>
                  <a:pt x="355600" y="138351"/>
                  <a:pt x="350599" y="133350"/>
                  <a:pt x="344488" y="133350"/>
                </a:cubicBezTo>
                <a:cubicBezTo>
                  <a:pt x="338376" y="133350"/>
                  <a:pt x="333375" y="138351"/>
                  <a:pt x="333375" y="144463"/>
                </a:cubicBezTo>
                <a:lnTo>
                  <a:pt x="333375" y="188913"/>
                </a:lnTo>
                <a:cubicBezTo>
                  <a:pt x="333375" y="195024"/>
                  <a:pt x="338376" y="200025"/>
                  <a:pt x="344488" y="200025"/>
                </a:cubicBezTo>
                <a:cubicBezTo>
                  <a:pt x="350599" y="200025"/>
                  <a:pt x="355600" y="195024"/>
                  <a:pt x="355600" y="188913"/>
                </a:cubicBezTo>
                <a:lnTo>
                  <a:pt x="355600" y="144463"/>
                </a:lnTo>
                <a:close/>
                <a:moveTo>
                  <a:pt x="344488" y="222250"/>
                </a:moveTo>
                <a:cubicBezTo>
                  <a:pt x="338376" y="222250"/>
                  <a:pt x="333375" y="227251"/>
                  <a:pt x="333375" y="233363"/>
                </a:cubicBezTo>
                <a:lnTo>
                  <a:pt x="333375" y="277813"/>
                </a:lnTo>
                <a:cubicBezTo>
                  <a:pt x="333375" y="283924"/>
                  <a:pt x="338376" y="288925"/>
                  <a:pt x="344488" y="288925"/>
                </a:cubicBezTo>
                <a:cubicBezTo>
                  <a:pt x="350599" y="288925"/>
                  <a:pt x="355600" y="283924"/>
                  <a:pt x="355600" y="277813"/>
                </a:cubicBezTo>
                <a:lnTo>
                  <a:pt x="355600" y="233363"/>
                </a:lnTo>
                <a:cubicBezTo>
                  <a:pt x="355600" y="227251"/>
                  <a:pt x="350599" y="222250"/>
                  <a:pt x="344488" y="222250"/>
                </a:cubicBezTo>
                <a:close/>
              </a:path>
            </a:pathLst>
          </a:custGeom>
          <a:solidFill>
            <a:srgbClr val="C17F24"/>
          </a:solidFill>
          <a:ln/>
        </p:spPr>
      </p:sp>
      <p:sp>
        <p:nvSpPr>
          <p:cNvPr id="13" name="Text 11"/>
          <p:cNvSpPr/>
          <p:nvPr/>
        </p:nvSpPr>
        <p:spPr>
          <a:xfrm>
            <a:off x="9055100" y="1841500"/>
            <a:ext cx="508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1B3A4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Telefon Rehberi = B-Tree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572500" y="2413000"/>
            <a:ext cx="6667500" cy="431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C17F2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Her Sayfa (Düğüm):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2C3E5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Hem isim (anahtar) hem telefon numarası (veri) aynı sayfada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600" b="1" dirty="0">
                <a:solidFill>
                  <a:srgbClr val="C17F2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Problem — Ekleme: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2C3E5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Yeni numara eklemek sayfa değişikliği gerektirebilir. Sayfa dolarsa, sayfalar bölünür.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600" b="1" dirty="0">
                <a:solidFill>
                  <a:srgbClr val="C17F2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B+ Tree Farkı: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2C3E5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Sadece son sayfaya (yaprak) ekleme yeterlidir. Rehber sayfaları birbirine bağlı değilse aralık sorgusu zordur.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600" b="1" dirty="0">
                <a:solidFill>
                  <a:srgbClr val="C17F2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Sonuç: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2C3E5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Kütüphane sistemi (B+ Tree) daha organize ve verimlidir.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62000" y="7239000"/>
            <a:ext cx="14732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C17F2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Analoji: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C3E5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Kütüphanede kitap ararken rehber kartlarını takip edersiniz, tüm rafları tek tek aramazsınız. B+ Tree de tam olarak böyle çalışır — iç düğümler yönlendirir, yapraklar veriyi saklar.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17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-532279" y="5639075"/>
            <a:ext cx="2255272" cy="2692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762000" y="304800"/>
            <a:ext cx="1397000" cy="330200"/>
          </a:xfrm>
          <a:prstGeom prst="roundRect">
            <a:avLst>
              <a:gd name="adj" fmla="val 8000"/>
            </a:avLst>
          </a:prstGeom>
          <a:solidFill>
            <a:srgbClr val="1B3A4B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304800"/>
            <a:ext cx="1397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BÖLÜM 06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62000" y="787400"/>
            <a:ext cx="1143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000" b="1" dirty="0">
                <a:solidFill>
                  <a:srgbClr val="1B3A4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Dosya Dolabı ve Hastane Arşivi Benzetmesi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762000" y="1397000"/>
            <a:ext cx="762000" cy="38100"/>
          </a:xfrm>
          <a:prstGeom prst="rect">
            <a:avLst/>
          </a:prstGeom>
          <a:solidFill>
            <a:srgbClr val="C17F24"/>
          </a:solidFill>
          <a:ln/>
        </p:spPr>
      </p:sp>
      <p:sp>
        <p:nvSpPr>
          <p:cNvPr id="7" name="Shape 5"/>
          <p:cNvSpPr/>
          <p:nvPr/>
        </p:nvSpPr>
        <p:spPr>
          <a:xfrm>
            <a:off x="762000" y="1651000"/>
            <a:ext cx="7175500" cy="5334000"/>
          </a:xfrm>
          <a:prstGeom prst="roundRect">
            <a:avLst>
              <a:gd name="adj" fmla="val 4000"/>
            </a:avLst>
          </a:prstGeom>
          <a:solidFill>
            <a:srgbClr val="E8ECEF"/>
          </a:solidFill>
          <a:ln/>
        </p:spPr>
      </p:sp>
      <p:sp>
        <p:nvSpPr>
          <p:cNvPr id="8" name="Shape 6"/>
          <p:cNvSpPr/>
          <p:nvPr/>
        </p:nvSpPr>
        <p:spPr>
          <a:xfrm>
            <a:off x="993775" y="1879600"/>
            <a:ext cx="400050" cy="355600"/>
          </a:xfrm>
          <a:custGeom>
            <a:avLst/>
            <a:gdLst/>
            <a:ahLst/>
            <a:cxnLst/>
            <a:rect l="l" t="t" r="r" b="b"/>
            <a:pathLst>
              <a:path w="400050" h="355600">
                <a:moveTo>
                  <a:pt x="38894" y="156686"/>
                </a:moveTo>
                <a:lnTo>
                  <a:pt x="22503" y="205720"/>
                </a:lnTo>
                <a:lnTo>
                  <a:pt x="22503" y="66675"/>
                </a:lnTo>
                <a:cubicBezTo>
                  <a:pt x="22503" y="42158"/>
                  <a:pt x="42436" y="22225"/>
                  <a:pt x="66953" y="22225"/>
                </a:cubicBezTo>
                <a:lnTo>
                  <a:pt x="163284" y="22225"/>
                </a:lnTo>
                <a:cubicBezTo>
                  <a:pt x="172869" y="22225"/>
                  <a:pt x="182245" y="25350"/>
                  <a:pt x="189954" y="31115"/>
                </a:cubicBezTo>
                <a:lnTo>
                  <a:pt x="216624" y="51117"/>
                </a:lnTo>
                <a:cubicBezTo>
                  <a:pt x="220444" y="54035"/>
                  <a:pt x="225167" y="55563"/>
                  <a:pt x="229959" y="55563"/>
                </a:cubicBezTo>
                <a:lnTo>
                  <a:pt x="311428" y="55563"/>
                </a:lnTo>
                <a:cubicBezTo>
                  <a:pt x="335945" y="55563"/>
                  <a:pt x="355878" y="75496"/>
                  <a:pt x="355878" y="100013"/>
                </a:cubicBezTo>
                <a:lnTo>
                  <a:pt x="355878" y="111125"/>
                </a:lnTo>
                <a:lnTo>
                  <a:pt x="102096" y="111125"/>
                </a:lnTo>
                <a:cubicBezTo>
                  <a:pt x="73412" y="111125"/>
                  <a:pt x="47923" y="129461"/>
                  <a:pt x="38824" y="156686"/>
                </a:cubicBezTo>
                <a:close/>
                <a:moveTo>
                  <a:pt x="331847" y="311150"/>
                </a:moveTo>
                <a:lnTo>
                  <a:pt x="68759" y="311150"/>
                </a:lnTo>
                <a:cubicBezTo>
                  <a:pt x="45978" y="311150"/>
                  <a:pt x="29934" y="288856"/>
                  <a:pt x="37157" y="267256"/>
                </a:cubicBezTo>
                <a:lnTo>
                  <a:pt x="70495" y="167243"/>
                </a:lnTo>
                <a:cubicBezTo>
                  <a:pt x="75009" y="153630"/>
                  <a:pt x="87789" y="144463"/>
                  <a:pt x="102096" y="144463"/>
                </a:cubicBezTo>
                <a:lnTo>
                  <a:pt x="365185" y="144463"/>
                </a:lnTo>
                <a:cubicBezTo>
                  <a:pt x="387965" y="144463"/>
                  <a:pt x="404009" y="166757"/>
                  <a:pt x="396786" y="188357"/>
                </a:cubicBezTo>
                <a:lnTo>
                  <a:pt x="363448" y="288369"/>
                </a:lnTo>
                <a:cubicBezTo>
                  <a:pt x="358934" y="301982"/>
                  <a:pt x="346154" y="311150"/>
                  <a:pt x="331847" y="311150"/>
                </a:cubicBezTo>
                <a:close/>
              </a:path>
            </a:pathLst>
          </a:custGeom>
          <a:solidFill>
            <a:srgbClr val="C17F24"/>
          </a:solidFill>
          <a:ln/>
        </p:spPr>
      </p:sp>
      <p:sp>
        <p:nvSpPr>
          <p:cNvPr id="9" name="Text 7"/>
          <p:cNvSpPr/>
          <p:nvPr/>
        </p:nvSpPr>
        <p:spPr>
          <a:xfrm>
            <a:off x="1498600" y="1841500"/>
            <a:ext cx="508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1B3A4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Dosya Dolabı = B+ Tree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16000" y="2413000"/>
            <a:ext cx="6667500" cy="431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C17F2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Ana Bölme (Kök Düğüm):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2C3E5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"2019-2021 / 2022-2024 / 2025-2027"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600" b="1" dirty="0">
                <a:solidFill>
                  <a:srgbClr val="C17F2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Alt Bölme (İç Düğüm):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2C3E5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"2022 / 2023 / 2024" — sadece yönlendirme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600" b="1" dirty="0">
                <a:solidFill>
                  <a:srgbClr val="C17F2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Çekmece (Yaprak Düğüm):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2C3E5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Gerçek dosyalar burada, sıralı ve birbirine bağlı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600" b="1" dirty="0">
                <a:solidFill>
                  <a:srgbClr val="C17F2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Aralık Sorgusu: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2C3E5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"2022 Ocak-Mart" çekmecesinden "2022 Nisan-Haziran" çekmecesine kolay geçiş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8318500" y="1651000"/>
            <a:ext cx="7175500" cy="5334000"/>
          </a:xfrm>
          <a:prstGeom prst="roundRect">
            <a:avLst>
              <a:gd name="adj" fmla="val 4000"/>
            </a:avLst>
          </a:prstGeom>
          <a:solidFill>
            <a:srgbClr val="E8ECEF"/>
          </a:solidFill>
          <a:ln/>
        </p:spPr>
      </p:sp>
      <p:sp>
        <p:nvSpPr>
          <p:cNvPr id="12" name="Shape 10"/>
          <p:cNvSpPr/>
          <p:nvPr/>
        </p:nvSpPr>
        <p:spPr>
          <a:xfrm>
            <a:off x="8550275" y="1879600"/>
            <a:ext cx="400050" cy="355600"/>
          </a:xfrm>
          <a:custGeom>
            <a:avLst/>
            <a:gdLst/>
            <a:ahLst/>
            <a:cxnLst/>
            <a:rect l="l" t="t" r="r" b="b"/>
            <a:pathLst>
              <a:path w="400050" h="355600">
                <a:moveTo>
                  <a:pt x="88900" y="44450"/>
                </a:moveTo>
                <a:cubicBezTo>
                  <a:pt x="88900" y="19933"/>
                  <a:pt x="108833" y="0"/>
                  <a:pt x="133350" y="0"/>
                </a:cubicBezTo>
                <a:lnTo>
                  <a:pt x="266700" y="0"/>
                </a:lnTo>
                <a:cubicBezTo>
                  <a:pt x="291217" y="0"/>
                  <a:pt x="311150" y="19933"/>
                  <a:pt x="311150" y="44450"/>
                </a:cubicBezTo>
                <a:lnTo>
                  <a:pt x="311150" y="88900"/>
                </a:lnTo>
                <a:lnTo>
                  <a:pt x="355600" y="88900"/>
                </a:lnTo>
                <a:cubicBezTo>
                  <a:pt x="380117" y="88900"/>
                  <a:pt x="400050" y="108833"/>
                  <a:pt x="400050" y="133350"/>
                </a:cubicBezTo>
                <a:lnTo>
                  <a:pt x="400050" y="311150"/>
                </a:lnTo>
                <a:cubicBezTo>
                  <a:pt x="400050" y="335667"/>
                  <a:pt x="380117" y="355600"/>
                  <a:pt x="355600" y="355600"/>
                </a:cubicBezTo>
                <a:lnTo>
                  <a:pt x="44450" y="355600"/>
                </a:lnTo>
                <a:cubicBezTo>
                  <a:pt x="19933" y="355600"/>
                  <a:pt x="0" y="335667"/>
                  <a:pt x="0" y="311150"/>
                </a:cubicBezTo>
                <a:lnTo>
                  <a:pt x="0" y="133350"/>
                </a:lnTo>
                <a:cubicBezTo>
                  <a:pt x="0" y="108833"/>
                  <a:pt x="19933" y="88900"/>
                  <a:pt x="44450" y="88900"/>
                </a:cubicBezTo>
                <a:lnTo>
                  <a:pt x="88900" y="88900"/>
                </a:lnTo>
                <a:lnTo>
                  <a:pt x="88900" y="44450"/>
                </a:lnTo>
                <a:close/>
                <a:moveTo>
                  <a:pt x="188913" y="244475"/>
                </a:moveTo>
                <a:cubicBezTo>
                  <a:pt x="176619" y="244475"/>
                  <a:pt x="166688" y="254407"/>
                  <a:pt x="166688" y="266700"/>
                </a:cubicBezTo>
                <a:lnTo>
                  <a:pt x="166688" y="322263"/>
                </a:lnTo>
                <a:lnTo>
                  <a:pt x="233363" y="322263"/>
                </a:lnTo>
                <a:lnTo>
                  <a:pt x="233363" y="266700"/>
                </a:lnTo>
                <a:cubicBezTo>
                  <a:pt x="233363" y="254407"/>
                  <a:pt x="223431" y="244475"/>
                  <a:pt x="211138" y="244475"/>
                </a:cubicBezTo>
                <a:lnTo>
                  <a:pt x="188913" y="244475"/>
                </a:lnTo>
                <a:close/>
                <a:moveTo>
                  <a:pt x="88900" y="255587"/>
                </a:moveTo>
                <a:lnTo>
                  <a:pt x="88900" y="233363"/>
                </a:lnTo>
                <a:cubicBezTo>
                  <a:pt x="88900" y="227251"/>
                  <a:pt x="83899" y="222250"/>
                  <a:pt x="77788" y="222250"/>
                </a:cubicBezTo>
                <a:lnTo>
                  <a:pt x="55563" y="222250"/>
                </a:lnTo>
                <a:cubicBezTo>
                  <a:pt x="49451" y="222250"/>
                  <a:pt x="44450" y="227251"/>
                  <a:pt x="44450" y="233363"/>
                </a:cubicBezTo>
                <a:lnTo>
                  <a:pt x="44450" y="255587"/>
                </a:lnTo>
                <a:cubicBezTo>
                  <a:pt x="44450" y="261699"/>
                  <a:pt x="49451" y="266700"/>
                  <a:pt x="55563" y="266700"/>
                </a:cubicBezTo>
                <a:lnTo>
                  <a:pt x="77788" y="266700"/>
                </a:lnTo>
                <a:cubicBezTo>
                  <a:pt x="83899" y="266700"/>
                  <a:pt x="88900" y="261699"/>
                  <a:pt x="88900" y="255587"/>
                </a:cubicBezTo>
                <a:close/>
                <a:moveTo>
                  <a:pt x="77788" y="177800"/>
                </a:moveTo>
                <a:cubicBezTo>
                  <a:pt x="83899" y="177800"/>
                  <a:pt x="88900" y="172799"/>
                  <a:pt x="88900" y="166688"/>
                </a:cubicBezTo>
                <a:lnTo>
                  <a:pt x="88900" y="144463"/>
                </a:lnTo>
                <a:cubicBezTo>
                  <a:pt x="88900" y="138351"/>
                  <a:pt x="83899" y="133350"/>
                  <a:pt x="77788" y="133350"/>
                </a:cubicBezTo>
                <a:lnTo>
                  <a:pt x="55563" y="133350"/>
                </a:lnTo>
                <a:cubicBezTo>
                  <a:pt x="49451" y="133350"/>
                  <a:pt x="44450" y="138351"/>
                  <a:pt x="44450" y="144463"/>
                </a:cubicBezTo>
                <a:lnTo>
                  <a:pt x="44450" y="166688"/>
                </a:lnTo>
                <a:cubicBezTo>
                  <a:pt x="44450" y="172799"/>
                  <a:pt x="49451" y="177800"/>
                  <a:pt x="55563" y="177800"/>
                </a:cubicBezTo>
                <a:lnTo>
                  <a:pt x="77788" y="177800"/>
                </a:lnTo>
                <a:close/>
                <a:moveTo>
                  <a:pt x="355600" y="255587"/>
                </a:moveTo>
                <a:lnTo>
                  <a:pt x="355600" y="233363"/>
                </a:lnTo>
                <a:cubicBezTo>
                  <a:pt x="355600" y="227251"/>
                  <a:pt x="350599" y="222250"/>
                  <a:pt x="344488" y="222250"/>
                </a:cubicBezTo>
                <a:lnTo>
                  <a:pt x="322263" y="222250"/>
                </a:lnTo>
                <a:cubicBezTo>
                  <a:pt x="316151" y="222250"/>
                  <a:pt x="311150" y="227251"/>
                  <a:pt x="311150" y="233363"/>
                </a:cubicBezTo>
                <a:lnTo>
                  <a:pt x="311150" y="255587"/>
                </a:lnTo>
                <a:cubicBezTo>
                  <a:pt x="311150" y="261699"/>
                  <a:pt x="316151" y="266700"/>
                  <a:pt x="322263" y="266700"/>
                </a:cubicBezTo>
                <a:lnTo>
                  <a:pt x="344488" y="266700"/>
                </a:lnTo>
                <a:cubicBezTo>
                  <a:pt x="350599" y="266700"/>
                  <a:pt x="355600" y="261699"/>
                  <a:pt x="355600" y="255587"/>
                </a:cubicBezTo>
                <a:close/>
                <a:moveTo>
                  <a:pt x="344488" y="177800"/>
                </a:moveTo>
                <a:cubicBezTo>
                  <a:pt x="350599" y="177800"/>
                  <a:pt x="355600" y="172799"/>
                  <a:pt x="355600" y="166688"/>
                </a:cubicBezTo>
                <a:lnTo>
                  <a:pt x="355600" y="144463"/>
                </a:lnTo>
                <a:cubicBezTo>
                  <a:pt x="355600" y="138351"/>
                  <a:pt x="350599" y="133350"/>
                  <a:pt x="344488" y="133350"/>
                </a:cubicBezTo>
                <a:lnTo>
                  <a:pt x="322263" y="133350"/>
                </a:lnTo>
                <a:cubicBezTo>
                  <a:pt x="316151" y="133350"/>
                  <a:pt x="311150" y="138351"/>
                  <a:pt x="311150" y="144463"/>
                </a:cubicBezTo>
                <a:lnTo>
                  <a:pt x="311150" y="166688"/>
                </a:lnTo>
                <a:cubicBezTo>
                  <a:pt x="311150" y="172799"/>
                  <a:pt x="316151" y="177800"/>
                  <a:pt x="322263" y="177800"/>
                </a:cubicBezTo>
                <a:lnTo>
                  <a:pt x="344488" y="177800"/>
                </a:lnTo>
                <a:close/>
                <a:moveTo>
                  <a:pt x="183356" y="72231"/>
                </a:moveTo>
                <a:lnTo>
                  <a:pt x="183356" y="94456"/>
                </a:lnTo>
                <a:lnTo>
                  <a:pt x="161131" y="94456"/>
                </a:lnTo>
                <a:cubicBezTo>
                  <a:pt x="155019" y="94456"/>
                  <a:pt x="150019" y="99457"/>
                  <a:pt x="150019" y="105569"/>
                </a:cubicBezTo>
                <a:lnTo>
                  <a:pt x="150019" y="116681"/>
                </a:lnTo>
                <a:cubicBezTo>
                  <a:pt x="150019" y="122793"/>
                  <a:pt x="155019" y="127794"/>
                  <a:pt x="161131" y="127794"/>
                </a:cubicBezTo>
                <a:lnTo>
                  <a:pt x="183356" y="127794"/>
                </a:lnTo>
                <a:lnTo>
                  <a:pt x="183356" y="150019"/>
                </a:lnTo>
                <a:cubicBezTo>
                  <a:pt x="183356" y="156131"/>
                  <a:pt x="188357" y="161131"/>
                  <a:pt x="194469" y="161131"/>
                </a:cubicBezTo>
                <a:lnTo>
                  <a:pt x="205581" y="161131"/>
                </a:lnTo>
                <a:cubicBezTo>
                  <a:pt x="211693" y="161131"/>
                  <a:pt x="216694" y="156131"/>
                  <a:pt x="216694" y="150019"/>
                </a:cubicBezTo>
                <a:lnTo>
                  <a:pt x="216694" y="127794"/>
                </a:lnTo>
                <a:lnTo>
                  <a:pt x="238919" y="127794"/>
                </a:lnTo>
                <a:cubicBezTo>
                  <a:pt x="245031" y="127794"/>
                  <a:pt x="250031" y="122793"/>
                  <a:pt x="250031" y="116681"/>
                </a:cubicBezTo>
                <a:lnTo>
                  <a:pt x="250031" y="105569"/>
                </a:lnTo>
                <a:cubicBezTo>
                  <a:pt x="250031" y="99457"/>
                  <a:pt x="245031" y="94456"/>
                  <a:pt x="238919" y="94456"/>
                </a:cubicBezTo>
                <a:lnTo>
                  <a:pt x="216694" y="94456"/>
                </a:lnTo>
                <a:lnTo>
                  <a:pt x="216694" y="72231"/>
                </a:lnTo>
                <a:cubicBezTo>
                  <a:pt x="216694" y="66119"/>
                  <a:pt x="211693" y="61119"/>
                  <a:pt x="205581" y="61119"/>
                </a:cubicBezTo>
                <a:lnTo>
                  <a:pt x="194469" y="61119"/>
                </a:lnTo>
                <a:cubicBezTo>
                  <a:pt x="188357" y="61119"/>
                  <a:pt x="183356" y="66119"/>
                  <a:pt x="183356" y="72231"/>
                </a:cubicBezTo>
                <a:close/>
              </a:path>
            </a:pathLst>
          </a:custGeom>
          <a:solidFill>
            <a:srgbClr val="C17F24"/>
          </a:solidFill>
          <a:ln/>
        </p:spPr>
      </p:sp>
      <p:sp>
        <p:nvSpPr>
          <p:cNvPr id="13" name="Text 11"/>
          <p:cNvSpPr/>
          <p:nvPr/>
        </p:nvSpPr>
        <p:spPr>
          <a:xfrm>
            <a:off x="9055100" y="1841500"/>
            <a:ext cx="508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1B3A4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Hastane Arşivi = B+ Tree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572500" y="2413000"/>
            <a:ext cx="6667500" cy="431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C17F2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Hasta Kayıtları: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2C3E5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Hasta ID'sine göre sıralıdır — her hasta bir yaprak düğümdedir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600" b="1" dirty="0">
                <a:solidFill>
                  <a:srgbClr val="C17F2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Reçete Aralığı Sorgusu: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2C3E5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"1000-2000 ID arası hastaların reçeteleri"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600" b="1" dirty="0">
                <a:solidFill>
                  <a:srgbClr val="C17F2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B+ Tree Avantajı: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2C3E5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Bağlı yaprak düğümler sayesinde aralık sorgusu tek seferde yapılır. Tüm kayıtlar sıralı ve erişilebilir.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600" b="1" dirty="0">
                <a:solidFill>
                  <a:srgbClr val="C17F2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Ölçek: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2C3E5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Modern hastane sistemlerinde milyonlarca kayıt B+ Tree indeksleme ile yönetilir.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62000" y="7239000"/>
            <a:ext cx="14732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C17F2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Somut Fayda: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C3E5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Bu benzetmelerde B+ Tree'nin en büyük avantajı, aralık sorgularının (range queries) hızlı ve verimli şekilde yapılabilmesidir. Yaprak düğümlerin birbirine bağlı olması, sıralı erişimi kolaylaştırır.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18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5ahipnw5rghok/mnt/agents/output/btree-usage/images/7_29_900_Database_Abstract_Stock_Photos.png">    </p:cNvPr>
          <p:cNvPicPr>
            <a:picLocks noChangeAspect="1"/>
          </p:cNvPicPr>
          <p:nvPr/>
        </p:nvPicPr>
        <p:blipFill>
          <a:blip r:embed="rId1"/>
          <a:srcRect l="36" r="36" t="0" b="0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0F1F2E">
                  <a:alpha val="95000"/>
                </a:srgbClr>
              </a:gs>
              <a:gs pos="60000">
                <a:srgbClr val="0F1F2E">
                  <a:alpha val="88000"/>
                </a:srgbClr>
              </a:gs>
              <a:gs pos="100000">
                <a:srgbClr val="0F1F2E">
                  <a:alpha val="60000"/>
                </a:srgbClr>
              </a:gs>
            </a:gsLst>
            <a:lin ang="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762000" y="1524000"/>
            <a:ext cx="5080000" cy="254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0" b="1" dirty="0">
                <a:solidFill>
                  <a:srgbClr val="FFFFFF">
                    <a:alpha val="6275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07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762000" y="3302000"/>
            <a:ext cx="18415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spc="300" kern="0" dirty="0">
                <a:solidFill>
                  <a:srgbClr val="C17F2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BÖLÜM 07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762000" y="3937000"/>
            <a:ext cx="1016000" cy="38100"/>
          </a:xfrm>
          <a:prstGeom prst="rect">
            <a:avLst/>
          </a:prstGeom>
          <a:solidFill>
            <a:srgbClr val="C17F24"/>
          </a:solidFill>
          <a:ln/>
        </p:spPr>
      </p:sp>
      <p:sp>
        <p:nvSpPr>
          <p:cNvPr id="7" name="Text 4"/>
          <p:cNvSpPr/>
          <p:nvPr/>
        </p:nvSpPr>
        <p:spPr>
          <a:xfrm>
            <a:off x="762000" y="4191000"/>
            <a:ext cx="1016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Gelecek ve Değerlendirme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62000" y="5080000"/>
            <a:ext cx="889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Veri Yapılarının Önemi, Büyük Veri Çağındaki Rolü ve Geleceği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762000" y="304800"/>
            <a:ext cx="1397000" cy="330200"/>
          </a:xfrm>
          <a:prstGeom prst="roundRect">
            <a:avLst>
              <a:gd name="adj" fmla="val 8000"/>
            </a:avLst>
          </a:prstGeom>
          <a:solidFill>
            <a:srgbClr val="1B3A4B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304800"/>
            <a:ext cx="1397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BÖLÜM 07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62000" y="787400"/>
            <a:ext cx="1143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000" b="1" dirty="0">
                <a:solidFill>
                  <a:srgbClr val="1B3A4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Bu Veri Yapıları Neden Önemlidir?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762000" y="1397000"/>
            <a:ext cx="762000" cy="38100"/>
          </a:xfrm>
          <a:prstGeom prst="rect">
            <a:avLst/>
          </a:prstGeom>
          <a:solidFill>
            <a:srgbClr val="C17F24"/>
          </a:solidFill>
          <a:ln/>
        </p:spPr>
      </p:sp>
      <p:sp>
        <p:nvSpPr>
          <p:cNvPr id="7" name="Shape 5"/>
          <p:cNvSpPr/>
          <p:nvPr/>
        </p:nvSpPr>
        <p:spPr>
          <a:xfrm>
            <a:off x="762000" y="1651000"/>
            <a:ext cx="4826000" cy="1968500"/>
          </a:xfrm>
          <a:prstGeom prst="roundRect">
            <a:avLst>
              <a:gd name="adj" fmla="val 5000"/>
            </a:avLst>
          </a:prstGeom>
          <a:solidFill>
            <a:srgbClr val="E8ECEF"/>
          </a:solidFill>
          <a:ln/>
        </p:spPr>
      </p:sp>
      <p:sp>
        <p:nvSpPr>
          <p:cNvPr id="8" name="Shape 6"/>
          <p:cNvSpPr/>
          <p:nvPr/>
        </p:nvSpPr>
        <p:spPr>
          <a:xfrm>
            <a:off x="1038225" y="1841500"/>
            <a:ext cx="311150" cy="355600"/>
          </a:xfrm>
          <a:custGeom>
            <a:avLst/>
            <a:gdLst/>
            <a:ahLst/>
            <a:cxnLst/>
            <a:rect l="l" t="t" r="r" b="b"/>
            <a:pathLst>
              <a:path w="311150" h="355600">
                <a:moveTo>
                  <a:pt x="235307" y="-6876"/>
                </a:moveTo>
                <a:cubicBezTo>
                  <a:pt x="243572" y="-903"/>
                  <a:pt x="246628" y="9932"/>
                  <a:pt x="242878" y="19377"/>
                </a:cubicBezTo>
                <a:lnTo>
                  <a:pt x="188426" y="155575"/>
                </a:lnTo>
                <a:lnTo>
                  <a:pt x="288925" y="155575"/>
                </a:lnTo>
                <a:cubicBezTo>
                  <a:pt x="298301" y="155575"/>
                  <a:pt x="306636" y="161409"/>
                  <a:pt x="309830" y="170230"/>
                </a:cubicBezTo>
                <a:cubicBezTo>
                  <a:pt x="313025" y="179050"/>
                  <a:pt x="310317" y="188913"/>
                  <a:pt x="303163" y="194885"/>
                </a:cubicBezTo>
                <a:lnTo>
                  <a:pt x="103138" y="361573"/>
                </a:lnTo>
                <a:cubicBezTo>
                  <a:pt x="95290" y="368102"/>
                  <a:pt x="84108" y="368449"/>
                  <a:pt x="75843" y="362476"/>
                </a:cubicBezTo>
                <a:cubicBezTo>
                  <a:pt x="67578" y="356503"/>
                  <a:pt x="64522" y="345668"/>
                  <a:pt x="68272" y="336223"/>
                </a:cubicBezTo>
                <a:lnTo>
                  <a:pt x="122724" y="200025"/>
                </a:lnTo>
                <a:lnTo>
                  <a:pt x="22225" y="200025"/>
                </a:lnTo>
                <a:cubicBezTo>
                  <a:pt x="12849" y="200025"/>
                  <a:pt x="4514" y="194191"/>
                  <a:pt x="1320" y="185370"/>
                </a:cubicBezTo>
                <a:cubicBezTo>
                  <a:pt x="-1875" y="176550"/>
                  <a:pt x="833" y="166688"/>
                  <a:pt x="7987" y="160715"/>
                </a:cubicBezTo>
                <a:lnTo>
                  <a:pt x="208012" y="-5973"/>
                </a:lnTo>
                <a:cubicBezTo>
                  <a:pt x="215860" y="-12502"/>
                  <a:pt x="227042" y="-12849"/>
                  <a:pt x="235307" y="-6876"/>
                </a:cubicBezTo>
                <a:close/>
              </a:path>
            </a:pathLst>
          </a:custGeom>
          <a:solidFill>
            <a:srgbClr val="C17F24"/>
          </a:solidFill>
          <a:ln/>
        </p:spPr>
      </p:sp>
      <p:sp>
        <p:nvSpPr>
          <p:cNvPr id="9" name="Text 7"/>
          <p:cNvSpPr/>
          <p:nvPr/>
        </p:nvSpPr>
        <p:spPr>
          <a:xfrm>
            <a:off x="1498600" y="18415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700" b="1" dirty="0">
                <a:solidFill>
                  <a:srgbClr val="1B3A4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Hızlı Veri Erişimi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16000" y="2286000"/>
            <a:ext cx="4318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O(log n) karmaşıklık ile milyarlarca kayıtta bile hızlı arama sağlar.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842000" y="1651000"/>
            <a:ext cx="4826000" cy="1968500"/>
          </a:xfrm>
          <a:prstGeom prst="roundRect">
            <a:avLst>
              <a:gd name="adj" fmla="val 5000"/>
            </a:avLst>
          </a:prstGeom>
          <a:solidFill>
            <a:srgbClr val="E8ECEF"/>
          </a:solidFill>
          <a:ln/>
        </p:spPr>
      </p:sp>
      <p:sp>
        <p:nvSpPr>
          <p:cNvPr id="12" name="Shape 10"/>
          <p:cNvSpPr/>
          <p:nvPr/>
        </p:nvSpPr>
        <p:spPr>
          <a:xfrm>
            <a:off x="6051550" y="1841500"/>
            <a:ext cx="444500" cy="355600"/>
          </a:xfrm>
          <a:custGeom>
            <a:avLst/>
            <a:gdLst/>
            <a:ahLst/>
            <a:cxnLst/>
            <a:rect l="l" t="t" r="r" b="b"/>
            <a:pathLst>
              <a:path w="444500" h="355600">
                <a:moveTo>
                  <a:pt x="266700" y="22225"/>
                </a:moveTo>
                <a:lnTo>
                  <a:pt x="355600" y="22225"/>
                </a:lnTo>
                <a:cubicBezTo>
                  <a:pt x="367893" y="22225"/>
                  <a:pt x="377825" y="32157"/>
                  <a:pt x="377825" y="44450"/>
                </a:cubicBezTo>
                <a:cubicBezTo>
                  <a:pt x="377825" y="56743"/>
                  <a:pt x="367893" y="66675"/>
                  <a:pt x="355600" y="66675"/>
                </a:cubicBezTo>
                <a:lnTo>
                  <a:pt x="276701" y="66675"/>
                </a:lnTo>
                <a:cubicBezTo>
                  <a:pt x="273090" y="84594"/>
                  <a:pt x="260796" y="99387"/>
                  <a:pt x="244475" y="106472"/>
                </a:cubicBezTo>
                <a:lnTo>
                  <a:pt x="244475" y="311150"/>
                </a:lnTo>
                <a:lnTo>
                  <a:pt x="355600" y="311150"/>
                </a:lnTo>
                <a:cubicBezTo>
                  <a:pt x="367893" y="311150"/>
                  <a:pt x="377825" y="321082"/>
                  <a:pt x="377825" y="333375"/>
                </a:cubicBezTo>
                <a:cubicBezTo>
                  <a:pt x="377825" y="345668"/>
                  <a:pt x="367893" y="355600"/>
                  <a:pt x="355600" y="355600"/>
                </a:cubicBezTo>
                <a:lnTo>
                  <a:pt x="88900" y="355600"/>
                </a:lnTo>
                <a:cubicBezTo>
                  <a:pt x="76607" y="355600"/>
                  <a:pt x="66675" y="345668"/>
                  <a:pt x="66675" y="333375"/>
                </a:cubicBezTo>
                <a:cubicBezTo>
                  <a:pt x="66675" y="321082"/>
                  <a:pt x="76607" y="311150"/>
                  <a:pt x="88900" y="311150"/>
                </a:cubicBezTo>
                <a:lnTo>
                  <a:pt x="200025" y="311150"/>
                </a:lnTo>
                <a:lnTo>
                  <a:pt x="200025" y="106472"/>
                </a:lnTo>
                <a:cubicBezTo>
                  <a:pt x="183704" y="99318"/>
                  <a:pt x="171410" y="84524"/>
                  <a:pt x="167799" y="66675"/>
                </a:cubicBezTo>
                <a:lnTo>
                  <a:pt x="88900" y="66675"/>
                </a:lnTo>
                <a:cubicBezTo>
                  <a:pt x="76607" y="66675"/>
                  <a:pt x="66675" y="56743"/>
                  <a:pt x="66675" y="44450"/>
                </a:cubicBezTo>
                <a:cubicBezTo>
                  <a:pt x="66675" y="32157"/>
                  <a:pt x="76607" y="22225"/>
                  <a:pt x="88900" y="22225"/>
                </a:cubicBezTo>
                <a:lnTo>
                  <a:pt x="177800" y="22225"/>
                </a:lnTo>
                <a:cubicBezTo>
                  <a:pt x="187940" y="8751"/>
                  <a:pt x="204053" y="0"/>
                  <a:pt x="222250" y="0"/>
                </a:cubicBezTo>
                <a:cubicBezTo>
                  <a:pt x="240447" y="0"/>
                  <a:pt x="256560" y="8751"/>
                  <a:pt x="266700" y="22225"/>
                </a:cubicBezTo>
                <a:close/>
                <a:moveTo>
                  <a:pt x="305316" y="222250"/>
                </a:moveTo>
                <a:lnTo>
                  <a:pt x="405884" y="222250"/>
                </a:lnTo>
                <a:lnTo>
                  <a:pt x="355600" y="135989"/>
                </a:lnTo>
                <a:lnTo>
                  <a:pt x="305316" y="222250"/>
                </a:lnTo>
                <a:close/>
                <a:moveTo>
                  <a:pt x="355600" y="288925"/>
                </a:moveTo>
                <a:cubicBezTo>
                  <a:pt x="311914" y="288925"/>
                  <a:pt x="275590" y="265311"/>
                  <a:pt x="268089" y="234126"/>
                </a:cubicBezTo>
                <a:cubicBezTo>
                  <a:pt x="266283" y="226487"/>
                  <a:pt x="268784" y="218638"/>
                  <a:pt x="272742" y="211832"/>
                </a:cubicBezTo>
                <a:lnTo>
                  <a:pt x="338862" y="98485"/>
                </a:lnTo>
                <a:cubicBezTo>
                  <a:pt x="342334" y="92512"/>
                  <a:pt x="348724" y="88900"/>
                  <a:pt x="355600" y="88900"/>
                </a:cubicBezTo>
                <a:cubicBezTo>
                  <a:pt x="362476" y="88900"/>
                  <a:pt x="368866" y="92581"/>
                  <a:pt x="372338" y="98485"/>
                </a:cubicBezTo>
                <a:lnTo>
                  <a:pt x="438458" y="211832"/>
                </a:lnTo>
                <a:cubicBezTo>
                  <a:pt x="442416" y="218638"/>
                  <a:pt x="444917" y="226487"/>
                  <a:pt x="443111" y="234126"/>
                </a:cubicBezTo>
                <a:cubicBezTo>
                  <a:pt x="435610" y="265241"/>
                  <a:pt x="399286" y="288925"/>
                  <a:pt x="355600" y="288925"/>
                </a:cubicBezTo>
                <a:close/>
                <a:moveTo>
                  <a:pt x="88067" y="135989"/>
                </a:moveTo>
                <a:lnTo>
                  <a:pt x="37783" y="222250"/>
                </a:lnTo>
                <a:lnTo>
                  <a:pt x="138420" y="222250"/>
                </a:lnTo>
                <a:lnTo>
                  <a:pt x="88067" y="135989"/>
                </a:lnTo>
                <a:close/>
                <a:moveTo>
                  <a:pt x="625" y="234126"/>
                </a:moveTo>
                <a:cubicBezTo>
                  <a:pt x="-1181" y="226487"/>
                  <a:pt x="1320" y="218638"/>
                  <a:pt x="5278" y="211832"/>
                </a:cubicBezTo>
                <a:lnTo>
                  <a:pt x="71398" y="98485"/>
                </a:lnTo>
                <a:cubicBezTo>
                  <a:pt x="74870" y="92512"/>
                  <a:pt x="81260" y="88900"/>
                  <a:pt x="88136" y="88900"/>
                </a:cubicBezTo>
                <a:cubicBezTo>
                  <a:pt x="95012" y="88900"/>
                  <a:pt x="101402" y="92581"/>
                  <a:pt x="104874" y="98485"/>
                </a:cubicBezTo>
                <a:lnTo>
                  <a:pt x="170994" y="211832"/>
                </a:lnTo>
                <a:cubicBezTo>
                  <a:pt x="174952" y="218638"/>
                  <a:pt x="177453" y="226487"/>
                  <a:pt x="175647" y="234126"/>
                </a:cubicBezTo>
                <a:cubicBezTo>
                  <a:pt x="168146" y="265241"/>
                  <a:pt x="131822" y="288925"/>
                  <a:pt x="88136" y="288925"/>
                </a:cubicBezTo>
                <a:cubicBezTo>
                  <a:pt x="44450" y="288925"/>
                  <a:pt x="8126" y="265311"/>
                  <a:pt x="625" y="234126"/>
                </a:cubicBezTo>
                <a:close/>
              </a:path>
            </a:pathLst>
          </a:custGeom>
          <a:solidFill>
            <a:srgbClr val="C17F24"/>
          </a:solidFill>
          <a:ln/>
        </p:spPr>
      </p:sp>
      <p:sp>
        <p:nvSpPr>
          <p:cNvPr id="13" name="Text 11"/>
          <p:cNvSpPr/>
          <p:nvPr/>
        </p:nvSpPr>
        <p:spPr>
          <a:xfrm>
            <a:off x="6578600" y="18415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700" b="1" dirty="0">
                <a:solidFill>
                  <a:srgbClr val="1B3A4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Dengeli Yapı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096000" y="2286000"/>
            <a:ext cx="4318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 kötü durum (worst-case) garantisi sunar. Performans tutarlıdır.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0922000" y="1651000"/>
            <a:ext cx="4572000" cy="1968500"/>
          </a:xfrm>
          <a:prstGeom prst="roundRect">
            <a:avLst>
              <a:gd name="adj" fmla="val 5000"/>
            </a:avLst>
          </a:prstGeom>
          <a:solidFill>
            <a:srgbClr val="E8ECEF"/>
          </a:solidFill>
          <a:ln/>
        </p:spPr>
      </p:sp>
      <p:sp>
        <p:nvSpPr>
          <p:cNvPr id="16" name="Shape 14"/>
          <p:cNvSpPr/>
          <p:nvPr/>
        </p:nvSpPr>
        <p:spPr>
          <a:xfrm>
            <a:off x="11198225" y="1841500"/>
            <a:ext cx="311150" cy="355600"/>
          </a:xfrm>
          <a:custGeom>
            <a:avLst/>
            <a:gdLst/>
            <a:ahLst/>
            <a:cxnLst/>
            <a:rect l="l" t="t" r="r" b="b"/>
            <a:pathLst>
              <a:path w="311150" h="355600">
                <a:moveTo>
                  <a:pt x="44450" y="22225"/>
                </a:moveTo>
                <a:cubicBezTo>
                  <a:pt x="19933" y="22225"/>
                  <a:pt x="0" y="42158"/>
                  <a:pt x="0" y="66675"/>
                </a:cubicBezTo>
                <a:lnTo>
                  <a:pt x="0" y="180648"/>
                </a:lnTo>
                <a:cubicBezTo>
                  <a:pt x="12571" y="171827"/>
                  <a:pt x="27920" y="166688"/>
                  <a:pt x="44450" y="166688"/>
                </a:cubicBezTo>
                <a:lnTo>
                  <a:pt x="266700" y="166688"/>
                </a:lnTo>
                <a:cubicBezTo>
                  <a:pt x="283230" y="166688"/>
                  <a:pt x="298579" y="171827"/>
                  <a:pt x="311150" y="180648"/>
                </a:cubicBezTo>
                <a:lnTo>
                  <a:pt x="311150" y="66675"/>
                </a:lnTo>
                <a:cubicBezTo>
                  <a:pt x="311150" y="42158"/>
                  <a:pt x="291217" y="22225"/>
                  <a:pt x="266700" y="22225"/>
                </a:cubicBezTo>
                <a:lnTo>
                  <a:pt x="44450" y="22225"/>
                </a:lnTo>
                <a:close/>
                <a:moveTo>
                  <a:pt x="311150" y="244475"/>
                </a:moveTo>
                <a:cubicBezTo>
                  <a:pt x="311150" y="219958"/>
                  <a:pt x="291217" y="200025"/>
                  <a:pt x="266700" y="200025"/>
                </a:cubicBezTo>
                <a:lnTo>
                  <a:pt x="44450" y="200025"/>
                </a:lnTo>
                <a:cubicBezTo>
                  <a:pt x="19933" y="200025"/>
                  <a:pt x="0" y="219958"/>
                  <a:pt x="0" y="244475"/>
                </a:cubicBezTo>
                <a:lnTo>
                  <a:pt x="0" y="288925"/>
                </a:lnTo>
                <a:cubicBezTo>
                  <a:pt x="0" y="313442"/>
                  <a:pt x="19933" y="333375"/>
                  <a:pt x="44450" y="333375"/>
                </a:cubicBezTo>
                <a:lnTo>
                  <a:pt x="266700" y="333375"/>
                </a:lnTo>
                <a:cubicBezTo>
                  <a:pt x="291217" y="333375"/>
                  <a:pt x="311150" y="313442"/>
                  <a:pt x="311150" y="288925"/>
                </a:cubicBezTo>
                <a:lnTo>
                  <a:pt x="311150" y="244475"/>
                </a:lnTo>
                <a:close/>
                <a:moveTo>
                  <a:pt x="155575" y="266700"/>
                </a:moveTo>
                <a:cubicBezTo>
                  <a:pt x="155575" y="254434"/>
                  <a:pt x="165534" y="244475"/>
                  <a:pt x="177800" y="244475"/>
                </a:cubicBezTo>
                <a:cubicBezTo>
                  <a:pt x="190066" y="244475"/>
                  <a:pt x="200025" y="254434"/>
                  <a:pt x="200025" y="266700"/>
                </a:cubicBezTo>
                <a:cubicBezTo>
                  <a:pt x="200025" y="278966"/>
                  <a:pt x="190066" y="288925"/>
                  <a:pt x="177800" y="288925"/>
                </a:cubicBezTo>
                <a:cubicBezTo>
                  <a:pt x="165534" y="288925"/>
                  <a:pt x="155575" y="278966"/>
                  <a:pt x="155575" y="266700"/>
                </a:cubicBezTo>
                <a:close/>
                <a:moveTo>
                  <a:pt x="244475" y="244475"/>
                </a:moveTo>
                <a:cubicBezTo>
                  <a:pt x="256741" y="244475"/>
                  <a:pt x="266700" y="254434"/>
                  <a:pt x="266700" y="266700"/>
                </a:cubicBezTo>
                <a:cubicBezTo>
                  <a:pt x="266700" y="278966"/>
                  <a:pt x="256741" y="288925"/>
                  <a:pt x="244475" y="288925"/>
                </a:cubicBezTo>
                <a:cubicBezTo>
                  <a:pt x="232209" y="288925"/>
                  <a:pt x="222250" y="278966"/>
                  <a:pt x="222250" y="266700"/>
                </a:cubicBezTo>
                <a:cubicBezTo>
                  <a:pt x="222250" y="254434"/>
                  <a:pt x="232209" y="244475"/>
                  <a:pt x="244475" y="244475"/>
                </a:cubicBezTo>
                <a:close/>
              </a:path>
            </a:pathLst>
          </a:custGeom>
          <a:solidFill>
            <a:srgbClr val="C17F24"/>
          </a:solidFill>
          <a:ln/>
        </p:spPr>
      </p:sp>
      <p:sp>
        <p:nvSpPr>
          <p:cNvPr id="17" name="Text 15"/>
          <p:cNvSpPr/>
          <p:nvPr/>
        </p:nvSpPr>
        <p:spPr>
          <a:xfrm>
            <a:off x="11658600" y="1841500"/>
            <a:ext cx="355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700" b="1" dirty="0">
                <a:solidFill>
                  <a:srgbClr val="1B3A4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Disk I/O Optimizasyonu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176000" y="2286000"/>
            <a:ext cx="4064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Disk tabanlı sistemlerde I/O maliyetini minimize eder.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62000" y="3873500"/>
            <a:ext cx="4826000" cy="1968500"/>
          </a:xfrm>
          <a:prstGeom prst="roundRect">
            <a:avLst>
              <a:gd name="adj" fmla="val 5000"/>
            </a:avLst>
          </a:prstGeom>
          <a:solidFill>
            <a:srgbClr val="E8ECEF"/>
          </a:solidFill>
          <a:ln/>
        </p:spPr>
      </p:sp>
      <p:sp>
        <p:nvSpPr>
          <p:cNvPr id="20" name="Shape 18"/>
          <p:cNvSpPr/>
          <p:nvPr/>
        </p:nvSpPr>
        <p:spPr>
          <a:xfrm>
            <a:off x="971550" y="4064000"/>
            <a:ext cx="444500" cy="355600"/>
          </a:xfrm>
          <a:custGeom>
            <a:avLst/>
            <a:gdLst/>
            <a:ahLst/>
            <a:cxnLst/>
            <a:rect l="l" t="t" r="r" b="b"/>
            <a:pathLst>
              <a:path w="444500" h="355600">
                <a:moveTo>
                  <a:pt x="288856" y="146199"/>
                </a:moveTo>
                <a:cubicBezTo>
                  <a:pt x="297329" y="143907"/>
                  <a:pt x="306219" y="147935"/>
                  <a:pt x="310039" y="155783"/>
                </a:cubicBezTo>
                <a:lnTo>
                  <a:pt x="322957" y="181898"/>
                </a:lnTo>
                <a:cubicBezTo>
                  <a:pt x="330111" y="182870"/>
                  <a:pt x="337125" y="184815"/>
                  <a:pt x="343724" y="187523"/>
                </a:cubicBezTo>
                <a:lnTo>
                  <a:pt x="368032" y="171341"/>
                </a:lnTo>
                <a:cubicBezTo>
                  <a:pt x="375325" y="166479"/>
                  <a:pt x="384979" y="167451"/>
                  <a:pt x="391160" y="173633"/>
                </a:cubicBezTo>
                <a:lnTo>
                  <a:pt x="404495" y="186968"/>
                </a:lnTo>
                <a:cubicBezTo>
                  <a:pt x="410676" y="193149"/>
                  <a:pt x="411649" y="202873"/>
                  <a:pt x="406787" y="210096"/>
                </a:cubicBezTo>
                <a:lnTo>
                  <a:pt x="390604" y="234335"/>
                </a:lnTo>
                <a:cubicBezTo>
                  <a:pt x="391924" y="237599"/>
                  <a:pt x="393105" y="241002"/>
                  <a:pt x="394077" y="244544"/>
                </a:cubicBezTo>
                <a:cubicBezTo>
                  <a:pt x="395049" y="248087"/>
                  <a:pt x="395674" y="251559"/>
                  <a:pt x="396161" y="255101"/>
                </a:cubicBezTo>
                <a:lnTo>
                  <a:pt x="422344" y="268020"/>
                </a:lnTo>
                <a:cubicBezTo>
                  <a:pt x="430193" y="271909"/>
                  <a:pt x="434221" y="280799"/>
                  <a:pt x="431929" y="289203"/>
                </a:cubicBezTo>
                <a:lnTo>
                  <a:pt x="427067" y="307400"/>
                </a:lnTo>
                <a:cubicBezTo>
                  <a:pt x="424775" y="315803"/>
                  <a:pt x="416927" y="321499"/>
                  <a:pt x="408176" y="320943"/>
                </a:cubicBezTo>
                <a:lnTo>
                  <a:pt x="379006" y="319068"/>
                </a:lnTo>
                <a:cubicBezTo>
                  <a:pt x="374630" y="324693"/>
                  <a:pt x="369560" y="329902"/>
                  <a:pt x="363795" y="334347"/>
                </a:cubicBezTo>
                <a:lnTo>
                  <a:pt x="365671" y="363448"/>
                </a:lnTo>
                <a:cubicBezTo>
                  <a:pt x="366226" y="372199"/>
                  <a:pt x="360531" y="380117"/>
                  <a:pt x="352127" y="382339"/>
                </a:cubicBezTo>
                <a:lnTo>
                  <a:pt x="333931" y="387201"/>
                </a:lnTo>
                <a:cubicBezTo>
                  <a:pt x="325457" y="389493"/>
                  <a:pt x="316637" y="385465"/>
                  <a:pt x="312747" y="377617"/>
                </a:cubicBezTo>
                <a:lnTo>
                  <a:pt x="299829" y="351502"/>
                </a:lnTo>
                <a:cubicBezTo>
                  <a:pt x="292675" y="350530"/>
                  <a:pt x="285661" y="348585"/>
                  <a:pt x="279063" y="345877"/>
                </a:cubicBezTo>
                <a:lnTo>
                  <a:pt x="254754" y="362059"/>
                </a:lnTo>
                <a:cubicBezTo>
                  <a:pt x="247461" y="366921"/>
                  <a:pt x="237808" y="365949"/>
                  <a:pt x="231626" y="359767"/>
                </a:cubicBezTo>
                <a:lnTo>
                  <a:pt x="218291" y="346432"/>
                </a:lnTo>
                <a:cubicBezTo>
                  <a:pt x="212110" y="340251"/>
                  <a:pt x="211138" y="330597"/>
                  <a:pt x="215999" y="323304"/>
                </a:cubicBezTo>
                <a:lnTo>
                  <a:pt x="232182" y="298996"/>
                </a:lnTo>
                <a:cubicBezTo>
                  <a:pt x="230862" y="295731"/>
                  <a:pt x="229681" y="292328"/>
                  <a:pt x="228709" y="288786"/>
                </a:cubicBezTo>
                <a:cubicBezTo>
                  <a:pt x="227737" y="285244"/>
                  <a:pt x="227112" y="281702"/>
                  <a:pt x="226626" y="278229"/>
                </a:cubicBezTo>
                <a:lnTo>
                  <a:pt x="200442" y="265311"/>
                </a:lnTo>
                <a:cubicBezTo>
                  <a:pt x="192594" y="261422"/>
                  <a:pt x="188635" y="252532"/>
                  <a:pt x="190857" y="244128"/>
                </a:cubicBezTo>
                <a:lnTo>
                  <a:pt x="195719" y="225931"/>
                </a:lnTo>
                <a:cubicBezTo>
                  <a:pt x="198011" y="217527"/>
                  <a:pt x="205859" y="211832"/>
                  <a:pt x="214610" y="212388"/>
                </a:cubicBezTo>
                <a:lnTo>
                  <a:pt x="243711" y="214263"/>
                </a:lnTo>
                <a:cubicBezTo>
                  <a:pt x="248087" y="208637"/>
                  <a:pt x="253157" y="203428"/>
                  <a:pt x="258921" y="198983"/>
                </a:cubicBezTo>
                <a:lnTo>
                  <a:pt x="257046" y="169952"/>
                </a:lnTo>
                <a:cubicBezTo>
                  <a:pt x="256490" y="161201"/>
                  <a:pt x="262186" y="153283"/>
                  <a:pt x="270589" y="151061"/>
                </a:cubicBezTo>
                <a:lnTo>
                  <a:pt x="288786" y="146199"/>
                </a:lnTo>
                <a:close/>
                <a:moveTo>
                  <a:pt x="311428" y="236141"/>
                </a:moveTo>
                <a:cubicBezTo>
                  <a:pt x="294562" y="236160"/>
                  <a:pt x="280884" y="249869"/>
                  <a:pt x="280903" y="266735"/>
                </a:cubicBezTo>
                <a:cubicBezTo>
                  <a:pt x="280922" y="283601"/>
                  <a:pt x="294631" y="297279"/>
                  <a:pt x="311497" y="297259"/>
                </a:cubicBezTo>
                <a:cubicBezTo>
                  <a:pt x="328363" y="297240"/>
                  <a:pt x="342041" y="283531"/>
                  <a:pt x="342022" y="266665"/>
                </a:cubicBezTo>
                <a:cubicBezTo>
                  <a:pt x="342003" y="249799"/>
                  <a:pt x="328294" y="236121"/>
                  <a:pt x="311428" y="236141"/>
                </a:cubicBezTo>
                <a:close/>
                <a:moveTo>
                  <a:pt x="156200" y="-31601"/>
                </a:moveTo>
                <a:lnTo>
                  <a:pt x="174397" y="-26739"/>
                </a:lnTo>
                <a:cubicBezTo>
                  <a:pt x="182801" y="-24448"/>
                  <a:pt x="188496" y="-16530"/>
                  <a:pt x="187940" y="-7848"/>
                </a:cubicBezTo>
                <a:lnTo>
                  <a:pt x="186065" y="21183"/>
                </a:lnTo>
                <a:cubicBezTo>
                  <a:pt x="191830" y="25628"/>
                  <a:pt x="196900" y="30768"/>
                  <a:pt x="201275" y="36463"/>
                </a:cubicBezTo>
                <a:lnTo>
                  <a:pt x="230445" y="34588"/>
                </a:lnTo>
                <a:cubicBezTo>
                  <a:pt x="239127" y="34032"/>
                  <a:pt x="247045" y="39727"/>
                  <a:pt x="249337" y="48131"/>
                </a:cubicBezTo>
                <a:lnTo>
                  <a:pt x="254198" y="66328"/>
                </a:lnTo>
                <a:cubicBezTo>
                  <a:pt x="256421" y="74732"/>
                  <a:pt x="252462" y="83622"/>
                  <a:pt x="244614" y="87511"/>
                </a:cubicBezTo>
                <a:lnTo>
                  <a:pt x="218430" y="100429"/>
                </a:lnTo>
                <a:cubicBezTo>
                  <a:pt x="217944" y="103971"/>
                  <a:pt x="217249" y="107513"/>
                  <a:pt x="216346" y="110986"/>
                </a:cubicBezTo>
                <a:cubicBezTo>
                  <a:pt x="215444" y="114459"/>
                  <a:pt x="214193" y="117931"/>
                  <a:pt x="212874" y="121196"/>
                </a:cubicBezTo>
                <a:lnTo>
                  <a:pt x="229056" y="145504"/>
                </a:lnTo>
                <a:cubicBezTo>
                  <a:pt x="233918" y="152797"/>
                  <a:pt x="232946" y="162451"/>
                  <a:pt x="226764" y="168632"/>
                </a:cubicBezTo>
                <a:lnTo>
                  <a:pt x="213429" y="181967"/>
                </a:lnTo>
                <a:cubicBezTo>
                  <a:pt x="207248" y="188149"/>
                  <a:pt x="197594" y="189121"/>
                  <a:pt x="190302" y="184259"/>
                </a:cubicBezTo>
                <a:lnTo>
                  <a:pt x="165993" y="168077"/>
                </a:lnTo>
                <a:cubicBezTo>
                  <a:pt x="159395" y="170785"/>
                  <a:pt x="152380" y="172730"/>
                  <a:pt x="145226" y="173702"/>
                </a:cubicBezTo>
                <a:lnTo>
                  <a:pt x="132308" y="199817"/>
                </a:lnTo>
                <a:cubicBezTo>
                  <a:pt x="128419" y="207665"/>
                  <a:pt x="119529" y="211624"/>
                  <a:pt x="111125" y="209401"/>
                </a:cubicBezTo>
                <a:lnTo>
                  <a:pt x="92928" y="204539"/>
                </a:lnTo>
                <a:cubicBezTo>
                  <a:pt x="84455" y="202248"/>
                  <a:pt x="78829" y="194330"/>
                  <a:pt x="79385" y="185648"/>
                </a:cubicBezTo>
                <a:lnTo>
                  <a:pt x="81260" y="156547"/>
                </a:lnTo>
                <a:cubicBezTo>
                  <a:pt x="75496" y="152102"/>
                  <a:pt x="70425" y="146963"/>
                  <a:pt x="66050" y="141268"/>
                </a:cubicBezTo>
                <a:lnTo>
                  <a:pt x="36880" y="143143"/>
                </a:lnTo>
                <a:cubicBezTo>
                  <a:pt x="28198" y="143699"/>
                  <a:pt x="20280" y="138003"/>
                  <a:pt x="17988" y="129600"/>
                </a:cubicBezTo>
                <a:lnTo>
                  <a:pt x="13127" y="111403"/>
                </a:lnTo>
                <a:cubicBezTo>
                  <a:pt x="10904" y="102999"/>
                  <a:pt x="14863" y="94109"/>
                  <a:pt x="22711" y="90220"/>
                </a:cubicBezTo>
                <a:lnTo>
                  <a:pt x="48895" y="77301"/>
                </a:lnTo>
                <a:cubicBezTo>
                  <a:pt x="49381" y="73759"/>
                  <a:pt x="50076" y="70287"/>
                  <a:pt x="50979" y="66744"/>
                </a:cubicBezTo>
                <a:cubicBezTo>
                  <a:pt x="51951" y="63202"/>
                  <a:pt x="53062" y="59799"/>
                  <a:pt x="54451" y="56535"/>
                </a:cubicBezTo>
                <a:lnTo>
                  <a:pt x="38269" y="32296"/>
                </a:lnTo>
                <a:cubicBezTo>
                  <a:pt x="33407" y="25003"/>
                  <a:pt x="34379" y="15349"/>
                  <a:pt x="40561" y="9168"/>
                </a:cubicBezTo>
                <a:lnTo>
                  <a:pt x="53896" y="-4167"/>
                </a:lnTo>
                <a:cubicBezTo>
                  <a:pt x="60077" y="-10349"/>
                  <a:pt x="69731" y="-11321"/>
                  <a:pt x="77024" y="-6459"/>
                </a:cubicBezTo>
                <a:lnTo>
                  <a:pt x="101332" y="9723"/>
                </a:lnTo>
                <a:cubicBezTo>
                  <a:pt x="107930" y="7015"/>
                  <a:pt x="114945" y="5070"/>
                  <a:pt x="122099" y="4098"/>
                </a:cubicBezTo>
                <a:lnTo>
                  <a:pt x="135017" y="-22017"/>
                </a:lnTo>
                <a:cubicBezTo>
                  <a:pt x="138906" y="-29865"/>
                  <a:pt x="147727" y="-33824"/>
                  <a:pt x="156200" y="-31601"/>
                </a:cubicBezTo>
                <a:close/>
                <a:moveTo>
                  <a:pt x="133628" y="58341"/>
                </a:moveTo>
                <a:cubicBezTo>
                  <a:pt x="116762" y="58341"/>
                  <a:pt x="103068" y="72034"/>
                  <a:pt x="103068" y="88900"/>
                </a:cubicBezTo>
                <a:cubicBezTo>
                  <a:pt x="103068" y="105766"/>
                  <a:pt x="116762" y="119459"/>
                  <a:pt x="133628" y="119459"/>
                </a:cubicBezTo>
                <a:cubicBezTo>
                  <a:pt x="150494" y="119459"/>
                  <a:pt x="164187" y="105766"/>
                  <a:pt x="164187" y="88900"/>
                </a:cubicBezTo>
                <a:cubicBezTo>
                  <a:pt x="164187" y="72034"/>
                  <a:pt x="150494" y="58341"/>
                  <a:pt x="133628" y="58341"/>
                </a:cubicBezTo>
                <a:close/>
              </a:path>
            </a:pathLst>
          </a:custGeom>
          <a:solidFill>
            <a:srgbClr val="C17F24"/>
          </a:solidFill>
          <a:ln/>
        </p:spPr>
      </p:sp>
      <p:sp>
        <p:nvSpPr>
          <p:cNvPr id="21" name="Text 19"/>
          <p:cNvSpPr/>
          <p:nvPr/>
        </p:nvSpPr>
        <p:spPr>
          <a:xfrm>
            <a:off x="1498600" y="40640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700" b="1" dirty="0">
                <a:solidFill>
                  <a:srgbClr val="1B3A4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Vazgeçilmez Altyapı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16000" y="4508500"/>
            <a:ext cx="4318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Veritabanları, dosya sistemleri, arama motorlarının temel yapı taşıdır.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842000" y="3873500"/>
            <a:ext cx="4826000" cy="1968500"/>
          </a:xfrm>
          <a:prstGeom prst="roundRect">
            <a:avLst>
              <a:gd name="adj" fmla="val 5000"/>
            </a:avLst>
          </a:prstGeom>
          <a:solidFill>
            <a:srgbClr val="E8ECEF"/>
          </a:solidFill>
          <a:ln/>
        </p:spPr>
      </p:sp>
      <p:sp>
        <p:nvSpPr>
          <p:cNvPr id="24" name="Shape 22"/>
          <p:cNvSpPr/>
          <p:nvPr/>
        </p:nvSpPr>
        <p:spPr>
          <a:xfrm>
            <a:off x="6118225" y="4064000"/>
            <a:ext cx="311150" cy="355600"/>
          </a:xfrm>
          <a:custGeom>
            <a:avLst/>
            <a:gdLst/>
            <a:ahLst/>
            <a:cxnLst/>
            <a:rect l="l" t="t" r="r" b="b"/>
            <a:pathLst>
              <a:path w="311150" h="355600">
                <a:moveTo>
                  <a:pt x="55563" y="72231"/>
                </a:moveTo>
                <a:cubicBezTo>
                  <a:pt x="64762" y="72231"/>
                  <a:pt x="72231" y="64762"/>
                  <a:pt x="72231" y="55563"/>
                </a:cubicBezTo>
                <a:cubicBezTo>
                  <a:pt x="72231" y="46363"/>
                  <a:pt x="64762" y="38894"/>
                  <a:pt x="55563" y="38894"/>
                </a:cubicBezTo>
                <a:cubicBezTo>
                  <a:pt x="46363" y="38894"/>
                  <a:pt x="38894" y="46363"/>
                  <a:pt x="38894" y="55563"/>
                </a:cubicBezTo>
                <a:cubicBezTo>
                  <a:pt x="38894" y="64762"/>
                  <a:pt x="46363" y="72231"/>
                  <a:pt x="55563" y="72231"/>
                </a:cubicBezTo>
                <a:close/>
                <a:moveTo>
                  <a:pt x="111125" y="55563"/>
                </a:moveTo>
                <a:cubicBezTo>
                  <a:pt x="111125" y="78343"/>
                  <a:pt x="97443" y="97929"/>
                  <a:pt x="77788" y="106472"/>
                </a:cubicBezTo>
                <a:lnTo>
                  <a:pt x="77788" y="155575"/>
                </a:lnTo>
                <a:lnTo>
                  <a:pt x="200025" y="155575"/>
                </a:lnTo>
                <a:cubicBezTo>
                  <a:pt x="218430" y="155575"/>
                  <a:pt x="233363" y="140643"/>
                  <a:pt x="233363" y="122238"/>
                </a:cubicBezTo>
                <a:lnTo>
                  <a:pt x="233363" y="106472"/>
                </a:lnTo>
                <a:cubicBezTo>
                  <a:pt x="213707" y="97929"/>
                  <a:pt x="200025" y="78343"/>
                  <a:pt x="200025" y="55563"/>
                </a:cubicBezTo>
                <a:cubicBezTo>
                  <a:pt x="200025" y="24864"/>
                  <a:pt x="224889" y="0"/>
                  <a:pt x="255587" y="0"/>
                </a:cubicBezTo>
                <a:cubicBezTo>
                  <a:pt x="286286" y="0"/>
                  <a:pt x="311150" y="24864"/>
                  <a:pt x="311150" y="55563"/>
                </a:cubicBezTo>
                <a:cubicBezTo>
                  <a:pt x="311150" y="78343"/>
                  <a:pt x="297468" y="97929"/>
                  <a:pt x="277813" y="106472"/>
                </a:cubicBezTo>
                <a:lnTo>
                  <a:pt x="277813" y="122238"/>
                </a:lnTo>
                <a:cubicBezTo>
                  <a:pt x="277813" y="165229"/>
                  <a:pt x="243016" y="200025"/>
                  <a:pt x="200025" y="200025"/>
                </a:cubicBezTo>
                <a:lnTo>
                  <a:pt x="77788" y="200025"/>
                </a:lnTo>
                <a:lnTo>
                  <a:pt x="77788" y="249128"/>
                </a:lnTo>
                <a:cubicBezTo>
                  <a:pt x="97443" y="257671"/>
                  <a:pt x="111125" y="277257"/>
                  <a:pt x="111125" y="300038"/>
                </a:cubicBezTo>
                <a:cubicBezTo>
                  <a:pt x="111125" y="330736"/>
                  <a:pt x="86261" y="355600"/>
                  <a:pt x="55563" y="355600"/>
                </a:cubicBezTo>
                <a:cubicBezTo>
                  <a:pt x="24864" y="355600"/>
                  <a:pt x="0" y="330736"/>
                  <a:pt x="0" y="300038"/>
                </a:cubicBezTo>
                <a:cubicBezTo>
                  <a:pt x="0" y="277257"/>
                  <a:pt x="13682" y="257671"/>
                  <a:pt x="33337" y="249128"/>
                </a:cubicBezTo>
                <a:lnTo>
                  <a:pt x="33337" y="106541"/>
                </a:lnTo>
                <a:cubicBezTo>
                  <a:pt x="13682" y="97929"/>
                  <a:pt x="0" y="78343"/>
                  <a:pt x="0" y="55563"/>
                </a:cubicBezTo>
                <a:cubicBezTo>
                  <a:pt x="0" y="24864"/>
                  <a:pt x="24864" y="0"/>
                  <a:pt x="55563" y="0"/>
                </a:cubicBezTo>
                <a:cubicBezTo>
                  <a:pt x="86261" y="0"/>
                  <a:pt x="111125" y="24864"/>
                  <a:pt x="111125" y="55563"/>
                </a:cubicBezTo>
                <a:close/>
                <a:moveTo>
                  <a:pt x="272256" y="55563"/>
                </a:moveTo>
                <a:cubicBezTo>
                  <a:pt x="272256" y="46363"/>
                  <a:pt x="264787" y="38894"/>
                  <a:pt x="255587" y="38894"/>
                </a:cubicBezTo>
                <a:cubicBezTo>
                  <a:pt x="246388" y="38894"/>
                  <a:pt x="238919" y="46363"/>
                  <a:pt x="238919" y="55563"/>
                </a:cubicBezTo>
                <a:cubicBezTo>
                  <a:pt x="238919" y="64762"/>
                  <a:pt x="246388" y="72231"/>
                  <a:pt x="255587" y="72231"/>
                </a:cubicBezTo>
                <a:cubicBezTo>
                  <a:pt x="264787" y="72231"/>
                  <a:pt x="272256" y="64762"/>
                  <a:pt x="272256" y="55563"/>
                </a:cubicBezTo>
                <a:close/>
                <a:moveTo>
                  <a:pt x="55563" y="316706"/>
                </a:moveTo>
                <a:cubicBezTo>
                  <a:pt x="64762" y="316706"/>
                  <a:pt x="72231" y="309237"/>
                  <a:pt x="72231" y="300038"/>
                </a:cubicBezTo>
                <a:cubicBezTo>
                  <a:pt x="72231" y="290838"/>
                  <a:pt x="64762" y="283369"/>
                  <a:pt x="55563" y="283369"/>
                </a:cubicBezTo>
                <a:cubicBezTo>
                  <a:pt x="46363" y="283369"/>
                  <a:pt x="38894" y="290838"/>
                  <a:pt x="38894" y="300038"/>
                </a:cubicBezTo>
                <a:cubicBezTo>
                  <a:pt x="38894" y="309237"/>
                  <a:pt x="46363" y="316706"/>
                  <a:pt x="55563" y="316706"/>
                </a:cubicBezTo>
                <a:close/>
              </a:path>
            </a:pathLst>
          </a:custGeom>
          <a:solidFill>
            <a:srgbClr val="C17F24"/>
          </a:solidFill>
          <a:ln/>
        </p:spPr>
      </p:sp>
      <p:sp>
        <p:nvSpPr>
          <p:cNvPr id="25" name="Text 23"/>
          <p:cNvSpPr/>
          <p:nvPr/>
        </p:nvSpPr>
        <p:spPr>
          <a:xfrm>
            <a:off x="6578600" y="40640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700" b="1" dirty="0">
                <a:solidFill>
                  <a:srgbClr val="1B3A4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Esin Kaynağı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096000" y="4508500"/>
            <a:ext cx="4318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Yeni nesil veri yapıları (LSM-Tree vb.) B+ Tree prensiplerinden esinlenir.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10922000" y="3873500"/>
            <a:ext cx="4572000" cy="1968500"/>
          </a:xfrm>
          <a:prstGeom prst="roundRect">
            <a:avLst>
              <a:gd name="adj" fmla="val 5000"/>
            </a:avLst>
          </a:prstGeom>
          <a:solidFill>
            <a:srgbClr val="E8ECEF"/>
          </a:solidFill>
          <a:ln/>
        </p:spPr>
      </p:sp>
      <p:sp>
        <p:nvSpPr>
          <p:cNvPr id="28" name="Shape 26"/>
          <p:cNvSpPr/>
          <p:nvPr/>
        </p:nvSpPr>
        <p:spPr>
          <a:xfrm>
            <a:off x="11153775" y="4064000"/>
            <a:ext cx="400050" cy="355600"/>
          </a:xfrm>
          <a:custGeom>
            <a:avLst/>
            <a:gdLst/>
            <a:ahLst/>
            <a:cxnLst/>
            <a:rect l="l" t="t" r="r" b="b"/>
            <a:pathLst>
              <a:path w="400050" h="355600">
                <a:moveTo>
                  <a:pt x="200025" y="44450"/>
                </a:moveTo>
                <a:cubicBezTo>
                  <a:pt x="273645" y="44450"/>
                  <a:pt x="333375" y="104180"/>
                  <a:pt x="333375" y="177800"/>
                </a:cubicBezTo>
                <a:cubicBezTo>
                  <a:pt x="333375" y="251420"/>
                  <a:pt x="273645" y="311150"/>
                  <a:pt x="200025" y="311150"/>
                </a:cubicBezTo>
                <a:cubicBezTo>
                  <a:pt x="154742" y="311150"/>
                  <a:pt x="114667" y="288578"/>
                  <a:pt x="90567" y="253990"/>
                </a:cubicBezTo>
                <a:cubicBezTo>
                  <a:pt x="83552" y="243919"/>
                  <a:pt x="69661" y="241489"/>
                  <a:pt x="59591" y="248503"/>
                </a:cubicBezTo>
                <a:cubicBezTo>
                  <a:pt x="49520" y="255518"/>
                  <a:pt x="47089" y="269409"/>
                  <a:pt x="54104" y="279479"/>
                </a:cubicBezTo>
                <a:cubicBezTo>
                  <a:pt x="86191" y="325457"/>
                  <a:pt x="139601" y="355600"/>
                  <a:pt x="200025" y="355600"/>
                </a:cubicBezTo>
                <a:cubicBezTo>
                  <a:pt x="298232" y="355600"/>
                  <a:pt x="377825" y="276007"/>
                  <a:pt x="377825" y="177800"/>
                </a:cubicBezTo>
                <a:cubicBezTo>
                  <a:pt x="377825" y="79593"/>
                  <a:pt x="298232" y="0"/>
                  <a:pt x="200025" y="0"/>
                </a:cubicBezTo>
                <a:cubicBezTo>
                  <a:pt x="140504" y="0"/>
                  <a:pt x="87858" y="29240"/>
                  <a:pt x="55563" y="74106"/>
                </a:cubicBezTo>
                <a:lnTo>
                  <a:pt x="55563" y="55563"/>
                </a:lnTo>
                <a:cubicBezTo>
                  <a:pt x="55563" y="43269"/>
                  <a:pt x="45631" y="33337"/>
                  <a:pt x="33337" y="33337"/>
                </a:cubicBezTo>
                <a:cubicBezTo>
                  <a:pt x="21044" y="33337"/>
                  <a:pt x="11112" y="43269"/>
                  <a:pt x="11112" y="55563"/>
                </a:cubicBezTo>
                <a:lnTo>
                  <a:pt x="11112" y="133350"/>
                </a:lnTo>
                <a:cubicBezTo>
                  <a:pt x="11112" y="145643"/>
                  <a:pt x="21044" y="155575"/>
                  <a:pt x="33337" y="155575"/>
                </a:cubicBezTo>
                <a:lnTo>
                  <a:pt x="50423" y="155575"/>
                </a:lnTo>
                <a:cubicBezTo>
                  <a:pt x="50770" y="155575"/>
                  <a:pt x="51117" y="155575"/>
                  <a:pt x="51465" y="155575"/>
                </a:cubicBezTo>
                <a:lnTo>
                  <a:pt x="111194" y="155575"/>
                </a:lnTo>
                <a:cubicBezTo>
                  <a:pt x="123488" y="155575"/>
                  <a:pt x="133419" y="145643"/>
                  <a:pt x="133419" y="133350"/>
                </a:cubicBezTo>
                <a:cubicBezTo>
                  <a:pt x="133419" y="121057"/>
                  <a:pt x="123488" y="111125"/>
                  <a:pt x="111194" y="111125"/>
                </a:cubicBezTo>
                <a:lnTo>
                  <a:pt x="84594" y="111125"/>
                </a:lnTo>
                <a:cubicBezTo>
                  <a:pt x="107583" y="71259"/>
                  <a:pt x="150713" y="44450"/>
                  <a:pt x="200025" y="44450"/>
                </a:cubicBezTo>
                <a:close/>
                <a:moveTo>
                  <a:pt x="216694" y="105569"/>
                </a:moveTo>
                <a:cubicBezTo>
                  <a:pt x="216694" y="96331"/>
                  <a:pt x="209262" y="88900"/>
                  <a:pt x="200025" y="88900"/>
                </a:cubicBezTo>
                <a:cubicBezTo>
                  <a:pt x="190788" y="88900"/>
                  <a:pt x="183356" y="96331"/>
                  <a:pt x="183356" y="105569"/>
                </a:cubicBezTo>
                <a:lnTo>
                  <a:pt x="183356" y="177800"/>
                </a:lnTo>
                <a:cubicBezTo>
                  <a:pt x="183356" y="182245"/>
                  <a:pt x="185093" y="186482"/>
                  <a:pt x="188218" y="189607"/>
                </a:cubicBezTo>
                <a:lnTo>
                  <a:pt x="238224" y="239613"/>
                </a:lnTo>
                <a:cubicBezTo>
                  <a:pt x="244753" y="246142"/>
                  <a:pt x="255310" y="246142"/>
                  <a:pt x="261769" y="239613"/>
                </a:cubicBezTo>
                <a:cubicBezTo>
                  <a:pt x="268228" y="233085"/>
                  <a:pt x="268297" y="222528"/>
                  <a:pt x="261769" y="216069"/>
                </a:cubicBezTo>
                <a:lnTo>
                  <a:pt x="216624" y="170924"/>
                </a:lnTo>
                <a:lnTo>
                  <a:pt x="216624" y="105569"/>
                </a:lnTo>
                <a:close/>
              </a:path>
            </a:pathLst>
          </a:custGeom>
          <a:solidFill>
            <a:srgbClr val="C17F24"/>
          </a:solidFill>
          <a:ln/>
        </p:spPr>
      </p:sp>
      <p:sp>
        <p:nvSpPr>
          <p:cNvPr id="29" name="Text 27"/>
          <p:cNvSpPr/>
          <p:nvPr/>
        </p:nvSpPr>
        <p:spPr>
          <a:xfrm>
            <a:off x="11658600" y="4064000"/>
            <a:ext cx="355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700" b="1" dirty="0">
                <a:solidFill>
                  <a:srgbClr val="1B3A4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50+ Yıllık Geçmiş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1176000" y="4508500"/>
            <a:ext cx="4064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1972'den beri kanıtlanmış güvenilirlik ve performans.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762000" y="6223000"/>
            <a:ext cx="1473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1800" i="1" dirty="0">
                <a:solidFill>
                  <a:srgbClr val="2C3E5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"B-Tree, bilgisayar bilimindeki en etkili ve yaygın kullanılan veri yapılarından biridir."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20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762000" y="304800"/>
            <a:ext cx="1397000" cy="330200"/>
          </a:xfrm>
          <a:prstGeom prst="roundRect">
            <a:avLst>
              <a:gd name="adj" fmla="val 8000"/>
            </a:avLst>
          </a:prstGeom>
          <a:solidFill>
            <a:srgbClr val="1B3A4B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304800"/>
            <a:ext cx="1397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BÖLÜM 07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62000" y="787400"/>
            <a:ext cx="1143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000" b="1" dirty="0">
                <a:solidFill>
                  <a:srgbClr val="1B3A4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Büyük Veri Çağında Neden İhtiyaç Duyulmaktadır?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762000" y="1397000"/>
            <a:ext cx="762000" cy="38100"/>
          </a:xfrm>
          <a:prstGeom prst="rect">
            <a:avLst/>
          </a:prstGeom>
          <a:solidFill>
            <a:srgbClr val="C17F24"/>
          </a:solidFill>
          <a:ln/>
        </p:spPr>
      </p:sp>
      <p:sp>
        <p:nvSpPr>
          <p:cNvPr id="7" name="Shape 5"/>
          <p:cNvSpPr/>
          <p:nvPr/>
        </p:nvSpPr>
        <p:spPr>
          <a:xfrm>
            <a:off x="762000" y="1651000"/>
            <a:ext cx="14732000" cy="1143000"/>
          </a:xfrm>
          <a:prstGeom prst="roundRect">
            <a:avLst>
              <a:gd name="adj" fmla="val 3000"/>
            </a:avLst>
          </a:prstGeom>
          <a:solidFill>
            <a:srgbClr val="1B3A4B"/>
          </a:solidFill>
          <a:ln/>
        </p:spPr>
      </p:sp>
      <p:sp>
        <p:nvSpPr>
          <p:cNvPr id="8" name="Text 6"/>
          <p:cNvSpPr/>
          <p:nvPr/>
        </p:nvSpPr>
        <p:spPr>
          <a:xfrm>
            <a:off x="1016000" y="1714500"/>
            <a:ext cx="508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800" b="1" dirty="0">
                <a:solidFill>
                  <a:srgbClr val="C17F2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175 Zettabyte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16000" y="2349500"/>
            <a:ext cx="762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IDC'ye göre 2025'te dünya genelinde oluşacak toplam veri miktarı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430000" y="2032000"/>
            <a:ext cx="381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Kaynak: IDC Global DataSphere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62000" y="3048000"/>
            <a:ext cx="7112000" cy="393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5000"/>
              </a:lnSpc>
            </a:pPr>
            <a:r>
              <a:rPr lang="en-US" sz="1600" b="1" dirty="0">
                <a:solidFill>
                  <a:srgbClr val="C17F2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Veri Büyümesi:</a:t>
            </a:r>
            <a:endParaRPr lang="en-US" sz="1800" dirty="0"/>
          </a:p>
          <a:p>
            <a:pPr>
              <a:lnSpc>
                <a:spcPct val="155000"/>
              </a:lnSpc>
            </a:pPr>
            <a:r>
              <a:rPr lang="en-US" sz="1600" dirty="0">
                <a:solidFill>
                  <a:srgbClr val="2C3E5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Her geçen gün katlanarak büyüyor. Büyük veride tutarlı ve hızlı erişim kritik öneme sahiptir.</a:t>
            </a:r>
            <a:endParaRPr lang="en-US" sz="1800" dirty="0"/>
          </a:p>
          <a:p>
            <a:pPr>
              <a:lnSpc>
                <a:spcPct val="155000"/>
              </a:lnSpc>
              <a:spcBef>
                <a:spcPts val="1200"/>
              </a:spcBef>
            </a:pPr>
            <a:r>
              <a:rPr lang="en-US" sz="1600" b="1" dirty="0">
                <a:solidFill>
                  <a:srgbClr val="C17F2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B+ Tree Avantajı:</a:t>
            </a:r>
            <a:endParaRPr lang="en-US" sz="1800" dirty="0"/>
          </a:p>
          <a:p>
            <a:pPr>
              <a:lnSpc>
                <a:spcPct val="155000"/>
              </a:lnSpc>
            </a:pPr>
            <a:r>
              <a:rPr lang="en-US" sz="1600" dirty="0">
                <a:solidFill>
                  <a:srgbClr val="2C3E5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Veri büyüdükçe performans </a:t>
            </a:r>
            <a:pPr>
              <a:lnSpc>
                <a:spcPct val="155000"/>
              </a:lnSpc>
            </a:pPr>
            <a:r>
              <a:rPr lang="en-US" sz="1600" b="1" dirty="0">
                <a:solidFill>
                  <a:srgbClr val="2C3E5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logaritmik</a:t>
            </a:r>
            <a:pPr>
              <a:lnSpc>
                <a:spcPct val="155000"/>
              </a:lnSpc>
            </a:pPr>
            <a:r>
              <a:rPr lang="en-US" sz="1600" dirty="0">
                <a:solidFill>
                  <a:srgbClr val="2C3E5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olarak kötüleşir (doğrusal değil). Bu, milyarlarca kayıtta bile kullanılabilir olmasını sağlar.</a:t>
            </a:r>
            <a:endParaRPr lang="en-US" sz="1800" dirty="0"/>
          </a:p>
          <a:p>
            <a:pPr>
              <a:lnSpc>
                <a:spcPct val="155000"/>
              </a:lnSpc>
              <a:spcBef>
                <a:spcPts val="1200"/>
              </a:spcBef>
            </a:pPr>
            <a:r>
              <a:rPr lang="en-US" sz="1600" b="1" dirty="0">
                <a:solidFill>
                  <a:srgbClr val="C17F2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Uygulama Alanları:</a:t>
            </a:r>
            <a:endParaRPr lang="en-US" sz="1800" dirty="0"/>
          </a:p>
          <a:p>
            <a:pPr>
              <a:lnSpc>
                <a:spcPct val="155000"/>
              </a:lnSpc>
            </a:pPr>
            <a:r>
              <a:rPr lang="en-US" sz="1600" dirty="0">
                <a:solidFill>
                  <a:srgbClr val="2C3E5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Gerçek zamanlı analizler, finansal işlemler, IoT verileri için düşük gecikme garantisi.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8382000" y="3048000"/>
            <a:ext cx="7112000" cy="3810000"/>
          </a:xfrm>
          <a:prstGeom prst="roundRect">
            <a:avLst>
              <a:gd name="adj" fmla="val 4000"/>
            </a:avLst>
          </a:prstGeom>
          <a:solidFill>
            <a:srgbClr val="E8ECEF"/>
          </a:solidFill>
          <a:ln/>
        </p:spPr>
      </p:sp>
      <p:sp>
        <p:nvSpPr>
          <p:cNvPr id="13" name="Text 11"/>
          <p:cNvSpPr/>
          <p:nvPr/>
        </p:nvSpPr>
        <p:spPr>
          <a:xfrm>
            <a:off x="8636000" y="3238500"/>
            <a:ext cx="660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B3A4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Modern Bulut Veritabanları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636000" y="3683000"/>
            <a:ext cx="6604000" cy="292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2C3E5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Tümü B+ Tree tabanlıdır:</a:t>
            </a:r>
            <a:endParaRPr lang="en-US" sz="1800" dirty="0"/>
          </a:p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b="1" dirty="0">
                <a:solidFill>
                  <a:srgbClr val="2C3E5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AWS RDS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600" dirty="0">
                <a:solidFill>
                  <a:srgbClr val="2C3E5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(MySQL, PostgreSQL)</a:t>
            </a:r>
            <a:endParaRPr lang="en-US" sz="1800" dirty="0"/>
          </a:p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b="1" dirty="0">
                <a:solidFill>
                  <a:srgbClr val="2C3E5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Google Cloud SQL</a:t>
            </a:r>
            <a:endParaRPr lang="en-US" sz="1800" dirty="0"/>
          </a:p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b="1" dirty="0">
                <a:solidFill>
                  <a:srgbClr val="2C3E5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Azure SQL Database</a:t>
            </a:r>
            <a:endParaRPr lang="en-US" sz="1800" dirty="0"/>
          </a:p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b="1" dirty="0">
                <a:solidFill>
                  <a:srgbClr val="2C3E5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Amazon Aurora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600" dirty="0">
                <a:solidFill>
                  <a:srgbClr val="2C3E5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Dağıtık sistemlerde metadata yönetimi için hâlâ B+ Tree kullanılır.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62000" y="7175500"/>
            <a:ext cx="14732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C17F2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Özet: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C3E5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B+ Tree, büyük veri setlerinde optimize disk I/O, azaltılmış ağaç yüksekliği ve ölçeklenebilirlik sunar. Büyük veri çağında vazgeçilmez bir veri yapısıdır.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21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762000" y="304800"/>
            <a:ext cx="1397000" cy="330200"/>
          </a:xfrm>
          <a:prstGeom prst="roundRect">
            <a:avLst>
              <a:gd name="adj" fmla="val 8000"/>
            </a:avLst>
          </a:prstGeom>
          <a:solidFill>
            <a:srgbClr val="1B3A4B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304800"/>
            <a:ext cx="1397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BÖLÜM 07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62000" y="787400"/>
            <a:ext cx="1143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000" b="1" dirty="0">
                <a:solidFill>
                  <a:srgbClr val="1B3A4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Gelecekte Kullanılmaya Devam Edecek midir?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762000" y="1397000"/>
            <a:ext cx="762000" cy="38100"/>
          </a:xfrm>
          <a:prstGeom prst="rect">
            <a:avLst/>
          </a:prstGeom>
          <a:solidFill>
            <a:srgbClr val="C17F24"/>
          </a:solidFill>
          <a:ln/>
        </p:spPr>
      </p:sp>
      <p:sp>
        <p:nvSpPr>
          <p:cNvPr id="7" name="Shape 5"/>
          <p:cNvSpPr/>
          <p:nvPr/>
        </p:nvSpPr>
        <p:spPr>
          <a:xfrm>
            <a:off x="762000" y="1651000"/>
            <a:ext cx="14732000" cy="762000"/>
          </a:xfrm>
          <a:prstGeom prst="roundRect">
            <a:avLst>
              <a:gd name="adj" fmla="val 3000"/>
            </a:avLst>
          </a:prstGeom>
          <a:solidFill>
            <a:srgbClr val="1B3A4B"/>
          </a:solidFill>
          <a:ln/>
        </p:spPr>
      </p:sp>
      <p:sp>
        <p:nvSpPr>
          <p:cNvPr id="8" name="Text 6"/>
          <p:cNvSpPr/>
          <p:nvPr/>
        </p:nvSpPr>
        <p:spPr>
          <a:xfrm>
            <a:off x="1016000" y="1651000"/>
            <a:ext cx="14224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Evet — B+ Tree Temel Veri Yapısı Olarak Varlığını Sürdürecektir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62000" y="26670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1B3A4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Nedenleri: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62000" y="3175000"/>
            <a:ext cx="7112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5000"/>
              </a:lnSpc>
            </a:pPr>
            <a:r>
              <a:rPr lang="en-US" sz="1600" b="1" dirty="0">
                <a:solidFill>
                  <a:srgbClr val="C17F2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1.</a:t>
            </a:r>
            <a:pPr>
              <a:lnSpc>
                <a:spcPct val="155000"/>
              </a:lnSpc>
            </a:pPr>
            <a:r>
              <a:rPr lang="en-US" sz="1600" dirty="0">
                <a:solidFill>
                  <a:srgbClr val="2C3E5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pPr>
              <a:lnSpc>
                <a:spcPct val="155000"/>
              </a:lnSpc>
            </a:pPr>
            <a:r>
              <a:rPr lang="en-US" sz="1600" b="1" dirty="0">
                <a:solidFill>
                  <a:srgbClr val="2C3E5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50+ yıllık kanıtlanmış güvenilirlik</a:t>
            </a:r>
            <a:pPr>
              <a:lnSpc>
                <a:spcPct val="155000"/>
              </a:lnSpc>
            </a:pPr>
            <a:r>
              <a:rPr lang="en-US" sz="1600" dirty="0">
                <a:solidFill>
                  <a:srgbClr val="2C3E5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Donanım değişse bile (HDD → SSD → NVMe) logaritmik karmaşıklık avantajı devam eder.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62000" y="4318000"/>
            <a:ext cx="7112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5000"/>
              </a:lnSpc>
            </a:pPr>
            <a:r>
              <a:rPr lang="en-US" sz="1600" b="1" dirty="0">
                <a:solidFill>
                  <a:srgbClr val="C17F2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2.</a:t>
            </a:r>
            <a:pPr>
              <a:lnSpc>
                <a:spcPct val="155000"/>
              </a:lnSpc>
            </a:pPr>
            <a:r>
              <a:rPr lang="en-US" sz="1600" dirty="0">
                <a:solidFill>
                  <a:srgbClr val="2C3E5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pPr>
              <a:lnSpc>
                <a:spcPct val="155000"/>
              </a:lnSpc>
            </a:pPr>
            <a:r>
              <a:rPr lang="en-US" sz="1600" b="1" dirty="0">
                <a:solidFill>
                  <a:srgbClr val="2C3E5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Yeni depolama teknolojilerine adaptasyon</a:t>
            </a:r>
            <a:pPr>
              <a:lnSpc>
                <a:spcPct val="155000"/>
              </a:lnSpc>
            </a:pPr>
            <a:r>
              <a:rPr lang="en-US" sz="1600" dirty="0">
                <a:solidFill>
                  <a:srgbClr val="2C3E5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Optane, Persistent Memory gibi teknolojilerde B+ Tree adapte edilmektedir.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62000" y="5461000"/>
            <a:ext cx="7112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5000"/>
              </a:lnSpc>
            </a:pPr>
            <a:r>
              <a:rPr lang="en-US" sz="1600" b="1" dirty="0">
                <a:solidFill>
                  <a:srgbClr val="C17F2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3.</a:t>
            </a:r>
            <a:pPr>
              <a:lnSpc>
                <a:spcPct val="155000"/>
              </a:lnSpc>
            </a:pPr>
            <a:r>
              <a:rPr lang="en-US" sz="1600" dirty="0">
                <a:solidFill>
                  <a:srgbClr val="2C3E5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pPr>
              <a:lnSpc>
                <a:spcPct val="155000"/>
              </a:lnSpc>
            </a:pPr>
            <a:r>
              <a:rPr lang="en-US" sz="1600" b="1" dirty="0">
                <a:solidFill>
                  <a:srgbClr val="2C3E5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LSM-Tree ile birlikte var olma</a:t>
            </a:r>
            <a:pPr>
              <a:lnSpc>
                <a:spcPct val="155000"/>
              </a:lnSpc>
            </a:pPr>
            <a:r>
              <a:rPr lang="en-US" sz="1600" dirty="0">
                <a:solidFill>
                  <a:srgbClr val="2C3E5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Yazma-odaklı iş yüklerinde LSM-Tree tercih edilse de, okuma-odaklı ve karma iş yüklerinde B+ Tree üstündür.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382000" y="26670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1B3A4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Gelecek Trendleri: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382000" y="3175000"/>
            <a:ext cx="7112000" cy="3302000"/>
          </a:xfrm>
          <a:prstGeom prst="roundRect">
            <a:avLst>
              <a:gd name="adj" fmla="val 4000"/>
            </a:avLst>
          </a:prstGeom>
          <a:solidFill>
            <a:srgbClr val="E8ECEF"/>
          </a:solidFill>
          <a:ln/>
        </p:spPr>
      </p:sp>
      <p:sp>
        <p:nvSpPr>
          <p:cNvPr id="15" name="Text 13"/>
          <p:cNvSpPr/>
          <p:nvPr/>
        </p:nvSpPr>
        <p:spPr>
          <a:xfrm>
            <a:off x="8636000" y="3365500"/>
            <a:ext cx="6604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5000"/>
              </a:lnSpc>
            </a:pPr>
            <a:r>
              <a:rPr lang="en-US" sz="1600" b="1" dirty="0">
                <a:solidFill>
                  <a:srgbClr val="C17F2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▸ Bellek İçi (In-Memory) B+ Tree</a:t>
            </a:r>
            <a:endParaRPr lang="en-US" sz="1800" dirty="0"/>
          </a:p>
          <a:p>
            <a:pPr>
              <a:lnSpc>
                <a:spcPct val="155000"/>
              </a:lnSpc>
            </a:pPr>
            <a:r>
              <a:rPr lang="en-US" sz="1600" dirty="0">
                <a:solidFill>
                  <a:srgbClr val="2C3E5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RAM tabanlı varyantlar ile mikrosaniye düzeyinde erişim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636000" y="4381500"/>
            <a:ext cx="6604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5000"/>
              </a:lnSpc>
            </a:pPr>
            <a:r>
              <a:rPr lang="en-US" sz="1600" b="1" dirty="0">
                <a:solidFill>
                  <a:srgbClr val="C17F2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▸ GPU Hızlandırmalı Paralel B+ Tree</a:t>
            </a:r>
            <a:endParaRPr lang="en-US" sz="1800" dirty="0"/>
          </a:p>
          <a:p>
            <a:pPr>
              <a:lnSpc>
                <a:spcPct val="155000"/>
              </a:lnSpc>
            </a:pPr>
            <a:r>
              <a:rPr lang="en-US" sz="1600" dirty="0">
                <a:solidFill>
                  <a:srgbClr val="2C3E5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Binlerce çekirdek ile paralel arama ve ekleme işlemleri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636000" y="5397500"/>
            <a:ext cx="6604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5000"/>
              </a:lnSpc>
            </a:pPr>
            <a:r>
              <a:rPr lang="en-US" sz="1600" b="1" dirty="0">
                <a:solidFill>
                  <a:srgbClr val="C17F2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▸ Yapay Zeka Destekli Sorgu Optimizasyonu</a:t>
            </a:r>
            <a:endParaRPr lang="en-US" sz="1800" dirty="0"/>
          </a:p>
          <a:p>
            <a:pPr>
              <a:lnSpc>
                <a:spcPct val="155000"/>
              </a:lnSpc>
            </a:pPr>
            <a:r>
              <a:rPr lang="en-US" sz="1600" dirty="0">
                <a:solidFill>
                  <a:srgbClr val="2C3E5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Makine öğrenmesi ile indeks yapısının dinamik optimizasyonu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762000" y="6858000"/>
            <a:ext cx="14732000" cy="889000"/>
          </a:xfrm>
          <a:prstGeom prst="roundRect">
            <a:avLst>
              <a:gd name="adj" fmla="val 3000"/>
            </a:avLst>
          </a:prstGeom>
          <a:solidFill>
            <a:srgbClr val="E8D5B5"/>
          </a:solidFill>
          <a:ln/>
        </p:spPr>
      </p:sp>
      <p:sp>
        <p:nvSpPr>
          <p:cNvPr id="19" name="Text 17"/>
          <p:cNvSpPr/>
          <p:nvPr/>
        </p:nvSpPr>
        <p:spPr>
          <a:xfrm>
            <a:off x="1016000" y="6921500"/>
            <a:ext cx="14224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1700" i="1" dirty="0">
                <a:solidFill>
                  <a:srgbClr val="1B3A4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"B+ Tree, veri yönetiminin evrensel dilidir — veritabanlarından dosya sistemlerine kadar her yerde."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22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5ahipnw5rghok/mnt/agents/output/btree-usage/images/7_29_900_Database_Abstract_Stock_Photos.png">    </p:cNvPr>
          <p:cNvPicPr>
            <a:picLocks noChangeAspect="1"/>
          </p:cNvPicPr>
          <p:nvPr/>
        </p:nvPicPr>
        <p:blipFill>
          <a:blip r:embed="rId1"/>
          <a:srcRect l="36" r="36" t="0" b="0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0F1F2E">
                  <a:alpha val="90000"/>
                </a:srgbClr>
              </a:gs>
              <a:gs pos="50000">
                <a:srgbClr val="0F1F2E">
                  <a:alpha val="80000"/>
                </a:srgbClr>
              </a:gs>
              <a:gs pos="100000">
                <a:srgbClr val="0F1F2E">
                  <a:alpha val="90000"/>
                </a:srgbClr>
              </a:gs>
            </a:gsLst>
            <a:lin ang="540000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6858000" y="3048000"/>
            <a:ext cx="2540000" cy="38100"/>
          </a:xfrm>
          <a:prstGeom prst="rect">
            <a:avLst/>
          </a:prstGeom>
          <a:solidFill>
            <a:srgbClr val="C17F24"/>
          </a:solidFill>
          <a:ln/>
        </p:spPr>
      </p:sp>
      <p:sp>
        <p:nvSpPr>
          <p:cNvPr id="5" name="Text 2"/>
          <p:cNvSpPr/>
          <p:nvPr/>
        </p:nvSpPr>
        <p:spPr>
          <a:xfrm>
            <a:off x="2540000" y="3302000"/>
            <a:ext cx="11176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Teşekkürler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6858000" y="4381500"/>
            <a:ext cx="2540000" cy="38100"/>
          </a:xfrm>
          <a:prstGeom prst="rect">
            <a:avLst/>
          </a:prstGeom>
          <a:solidFill>
            <a:srgbClr val="C17F24"/>
          </a:solidFill>
          <a:ln/>
        </p:spPr>
      </p:sp>
      <p:sp>
        <p:nvSpPr>
          <p:cNvPr id="7" name="Text 4"/>
          <p:cNvSpPr/>
          <p:nvPr/>
        </p:nvSpPr>
        <p:spPr>
          <a:xfrm>
            <a:off x="2540000" y="4699000"/>
            <a:ext cx="11176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60000"/>
              </a:lnSpc>
            </a:pPr>
            <a:r>
              <a:rPr lang="en-US" sz="18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 ve B+ Ağaçları, modern veri yönetiminin temel taşları olmaya devam edecektir.</a:t>
            </a:r>
            <a:endParaRPr lang="en-US" sz="1600" dirty="0"/>
          </a:p>
          <a:p>
            <a:pPr algn="ctr">
              <a:lnSpc>
                <a:spcPct val="160000"/>
              </a:lnSpc>
            </a:pPr>
            <a:r>
              <a:rPr lang="en-US" sz="18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Sorularınız için teşekkür ederiz.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3810000" y="6604000"/>
            <a:ext cx="8636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60000"/>
              </a:lnSpc>
            </a:pPr>
            <a:r>
              <a:rPr lang="en-US" sz="14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Veri Yapıları ve Algoritmalar | 2025-2026 Bahar Dönemi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 ve B+ Ağaçlarının Günümüzde Kullanım Alanları</dc:title>
  <dc:subject>B ve B+ Ağaçlarının Günümüzde Kullanım Alanları</dc:subject>
  <dc:creator>Kimi</dc:creator>
  <cp:lastModifiedBy>Kimi</cp:lastModifiedBy>
  <cp:revision>1</cp:revision>
  <dcterms:created xsi:type="dcterms:W3CDTF">2026-05-28T14:29:43Z</dcterms:created>
  <dcterms:modified xsi:type="dcterms:W3CDTF">2026-05-28T14:29:43Z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{"Label":"B ve B+ Ağaçlarının Günümüzde Kullanım Alanları","ContentProducer":"001191110108MACG2KBH8F10000","ProduceID":"19e6efcd-ea12-888a-8000-0000d980c9dc","ReservedCode1":"","ContentPropagator":"001191110108MACG2KBH8F20000","PropagateID":"19e6efcd-ea12-888a-8000-0000d980c9dc","ReservedCode2":""}</vt:lpwstr>
  </property>
</Properties>
</file>